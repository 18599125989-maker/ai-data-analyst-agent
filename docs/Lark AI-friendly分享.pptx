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slides/slide23.xml" Type="http://schemas.openxmlformats.org/officeDocument/2006/relationships/slide"/><Relationship Id="rId32" Target="slides/slide24.xml" Type="http://schemas.openxmlformats.org/officeDocument/2006/relationships/slide"/><Relationship Id="rId33" Target="notesSlides/notesSlide1.xml" Type="http://schemas.openxmlformats.org/officeDocument/2006/relationships/notesSlide"/><Relationship Id="rId34" Target="notesSlides/notesSlide2.xml" Type="http://schemas.openxmlformats.org/officeDocument/2006/relationships/notesSlide"/><Relationship Id="rId35" Target="notesSlides/notesSlide3.xml" Type="http://schemas.openxmlformats.org/officeDocument/2006/relationships/notesSlide"/><Relationship Id="rId36" Target="notesSlides/notesSlide4.xml" Type="http://schemas.openxmlformats.org/officeDocument/2006/relationships/notesSlide"/><Relationship Id="rId37" Target="notesSlides/notesSlide5.xml" Type="http://schemas.openxmlformats.org/officeDocument/2006/relationships/notesSlide"/><Relationship Id="rId38" Target="notesSlides/notesSlide6.xml" Type="http://schemas.openxmlformats.org/officeDocument/2006/relationships/notesSlide"/><Relationship Id="rId39" Target="notesSlides/notesSlide7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8.xml" Type="http://schemas.openxmlformats.org/officeDocument/2006/relationships/notesSlide"/><Relationship Id="rId41" Target="notesSlides/notesSlide9.xml" Type="http://schemas.openxmlformats.org/officeDocument/2006/relationships/notesSlide"/><Relationship Id="rId42" Target="notesSlides/notesSlide10.xml" Type="http://schemas.openxmlformats.org/officeDocument/2006/relationships/notesSlide"/><Relationship Id="rId43" Target="notesSlides/notesSlide11.xml" Type="http://schemas.openxmlformats.org/officeDocument/2006/relationships/notesSlide"/><Relationship Id="rId44" Target="notesSlides/notesSlide12.xml" Type="http://schemas.openxmlformats.org/officeDocument/2006/relationships/notesSlide"/><Relationship Id="rId45" Target="notesSlides/notesSlide13.xml" Type="http://schemas.openxmlformats.org/officeDocument/2006/relationships/notesSlide"/><Relationship Id="rId46" Target="notesSlides/notesSlide14.xml" Type="http://schemas.openxmlformats.org/officeDocument/2006/relationships/notesSlide"/><Relationship Id="rId47" Target="notesSlides/notesSlide15.xml" Type="http://schemas.openxmlformats.org/officeDocument/2006/relationships/notesSlide"/><Relationship Id="rId48" Target="notesSlides/notesSlide16.xml" Type="http://schemas.openxmlformats.org/officeDocument/2006/relationships/notesSlide"/><Relationship Id="rId49" Target="notesSlides/notesSlide17.xml" Type="http://schemas.openxmlformats.org/officeDocument/2006/relationships/notesSlide"/><Relationship Id="rId50" Target="notesSlides/notesSlide18.xml" Type="http://schemas.openxmlformats.org/officeDocument/2006/relationships/notesSlide"/><Relationship Id="rId51" Target="notesSlides/notesSlide19.xml" Type="http://schemas.openxmlformats.org/officeDocument/2006/relationships/notesSlide"/><Relationship Id="rId52" Target="notesSlides/notesSlide20.xml" Type="http://schemas.openxmlformats.org/officeDocument/2006/relationships/notesSlide"/><Relationship Id="rId53" Target="notesSlides/notesSlide21.xml" Type="http://schemas.openxmlformats.org/officeDocument/2006/relationships/notesSlide"/><Relationship Id="rId54" Target="notesSlides/notesSlide22.xml" Type="http://schemas.openxmlformats.org/officeDocument/2006/relationships/notesSlide"/><Relationship Id="rId55" Target="notesSlides/notesSlide23.xml" Type="http://schemas.openxmlformats.org/officeDocument/2006/relationships/notesSlide"/><Relationship Id="rId56" Target="notesSlides/notesSlide24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xfrm rot="0" flipH="false" flipV="false">
            <a:off x="1524000" y="1122363"/>
            <a:ext cx="9144000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Autofit/>
          </a:bodyPr>
          <a:lstStyle>
            <a:lvl1pPr algn="ctr">
              <a:lnSpc>
                <a:spcPct val="91666"/>
              </a:lnSpc>
              <a:defRPr sz="6000" b="false" i="false" u="none" strike="noStrike" spc="0">
                <a:solidFill>
                  <a:srgbClr val="1A1F2E">
                    <a:alpha val="100000"/>
                  </a:srgbClr>
                </a:solidFill>
                <a:latin typeface="等线"/>
              </a:defRPr>
            </a:lvl1pPr>
          </a:lstStyle>
          <a:p>
            <a:pPr algn="ctr" indent="0">
              <a:lnSpc>
                <a:spcPct val="91666"/>
              </a:lnSpc>
            </a:pPr>
            <a:r>
              <a:rPr lang="en-US" b="false" i="false" strike="noStrike" u="none" sz="6000">
                <a:solidFill>
                  <a:srgbClr val="1A1F2E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xfrm rot="0" flipH="false" flipV="false">
            <a:off x="1524000" y="3602038"/>
            <a:ext cx="9144000" cy="1655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ctr">
              <a:lnSpc>
                <a:spcPct val="91666"/>
              </a:lnSpc>
              <a:defRPr sz="2400" b="false" i="false" u="none" strike="noStrike" spc="0">
                <a:solidFill>
                  <a:srgbClr val="3C4858">
                    <a:alpha val="100000"/>
                  </a:srgbClr>
                </a:solidFill>
                <a:latin typeface="等线"/>
              </a:defRPr>
            </a:lvl1pPr>
          </a:lstStyle>
          <a:p>
            <a:pPr algn="ctr" indent="0">
              <a:lnSpc>
                <a:spcPct val="91666"/>
              </a:lnSpc>
              <a:spcBef>
                <a:spcPts val="1000"/>
              </a:spcBef>
            </a:pPr>
            <a:r>
              <a:rPr lang="en-US" b="false" i="false" strike="noStrike" u="none" sz="24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单击此处编辑母版副标题样式</a:t>
            </a:r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xfrm rot="0" flipH="false" flipV="false"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78797C">
                    <a:alpha val="100000"/>
                  </a:srgbClr>
                </a:solidFill>
                <a:latin typeface="等线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78797C"/>
                </a:solidFill>
                <a:latin typeface="等线"/>
                <a:ea typeface="等线"/>
                <a:cs typeface="等线"/>
                <a:sym typeface="等线"/>
              </a:rPr>
              <a:t>2026/4/21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xfrm rot="0" flipH="false" flipV="false"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78797C"/>
                </a:solidFill>
                <a:latin typeface="等线"/>
                <a:ea typeface="等线"/>
                <a:cs typeface="等线"/>
                <a:sym typeface="等线"/>
              </a:rPr>
              <a:t>页脚</a:t>
            </a:r>
          </a:p>
        </p:txBody>
      </p:sp>
      <p:sp>
        <p:nvSpPr>
          <p:cNvPr name="AutoShape 6" id="6"/>
          <p:cNvSpPr/>
          <p:nvPr>
            <p:ph idx="10" type="body" sz="quarter" hasCustomPrompt="true"/>
          </p:nvPr>
        </p:nvSpPr>
        <p:spPr>
          <a:xfrm rot="0" flipH="false" flipV="false"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200" b="false" i="false" u="none" strike="noStrike" spc="0">
                <a:solidFill>
                  <a:srgbClr val="78797C">
                    <a:alpha val="100000"/>
                  </a:srgbClr>
                </a:solidFill>
                <a:latin typeface="等线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78797C"/>
                </a:solidFill>
                <a:latin typeface="等线"/>
                <a:ea typeface="等线"/>
                <a:cs typeface="等线"/>
                <a:sym typeface="等线"/>
              </a:rPr>
              <a:t>‹#›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1" type="body" sz="quarter" hasCustomPrompt="true"/>
          </p:nvPr>
        </p:nvSpPr>
        <p:spPr>
          <a:xfrm rot="0" flipH="false" flipV="false">
            <a:off x="831850" y="1709738"/>
            <a:ext cx="10515600" cy="28527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rmAutofit lnSpcReduction="0"/>
          </a:bodyPr>
          <a:lstStyle>
            <a:lvl1pPr algn="l">
              <a:lnSpc>
                <a:spcPct val="91666"/>
              </a:lnSpc>
              <a:defRPr sz="6000" b="false" i="false" u="none" strike="noStrike" spc="0">
                <a:solidFill>
                  <a:srgbClr val="1A1F2E">
                    <a:alpha val="100000"/>
                  </a:srgbClr>
                </a:solidFill>
                <a:latin typeface="等线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false" i="false" strike="noStrike" u="none" sz="6000">
                <a:solidFill>
                  <a:srgbClr val="1A1F2E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12" type="body" sz="quarter" hasCustomPrompt="true"/>
          </p:nvPr>
        </p:nvSpPr>
        <p:spPr>
          <a:xfrm rot="0" flipH="false" flipV="false">
            <a:off x="831850" y="4589463"/>
            <a:ext cx="10515600" cy="15001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91666"/>
              </a:lnSpc>
              <a:defRPr sz="2400" b="false" i="false" u="none" strike="noStrike" spc="0">
                <a:solidFill>
                  <a:srgbClr val="78797C">
                    <a:alpha val="100000"/>
                  </a:srgbClr>
                </a:solidFill>
                <a:latin typeface="等线"/>
              </a:defRPr>
            </a:lvl1pPr>
          </a:lstStyle>
          <a:p>
            <a:pPr algn="l" indent="0">
              <a:lnSpc>
                <a:spcPct val="91666"/>
              </a:lnSpc>
              <a:spcBef>
                <a:spcPts val="1000"/>
              </a:spcBef>
            </a:pPr>
            <a:r>
              <a:rPr lang="en-US" b="false" i="false" strike="noStrike" u="none" sz="2400">
                <a:solidFill>
                  <a:srgbClr val="78797C"/>
                </a:solidFill>
                <a:latin typeface="等线"/>
                <a:ea typeface="等线"/>
                <a:cs typeface="等线"/>
                <a:sym typeface="等线"/>
              </a:rPr>
              <a:t>单击此处编辑母版文本样式</a:t>
            </a:r>
          </a:p>
        </p:txBody>
      </p:sp>
      <p:sp>
        <p:nvSpPr>
          <p:cNvPr name="AutoShape 4" id="4"/>
          <p:cNvSpPr/>
          <p:nvPr>
            <p:ph idx="13" type="body" sz="quarter" hasCustomPrompt="true"/>
          </p:nvPr>
        </p:nvSpPr>
        <p:spPr>
          <a:xfrm rot="0" flipH="false" flipV="false"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78797C">
                    <a:alpha val="100000"/>
                  </a:srgbClr>
                </a:solidFill>
                <a:latin typeface="等线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78797C"/>
                </a:solidFill>
                <a:latin typeface="等线"/>
                <a:ea typeface="等线"/>
                <a:cs typeface="等线"/>
                <a:sym typeface="等线"/>
              </a:rPr>
              <a:t>2026/4/21</a:t>
            </a:r>
          </a:p>
        </p:txBody>
      </p:sp>
      <p:sp>
        <p:nvSpPr>
          <p:cNvPr name="AutoShape 5" id="5"/>
          <p:cNvSpPr/>
          <p:nvPr>
            <p:ph idx="14" type="body" sz="quarter" hasCustomPrompt="true"/>
          </p:nvPr>
        </p:nvSpPr>
        <p:spPr>
          <a:xfrm rot="0" flipH="false" flipV="false"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78797C"/>
                </a:solidFill>
                <a:latin typeface="等线"/>
                <a:ea typeface="等线"/>
                <a:cs typeface="等线"/>
                <a:sym typeface="等线"/>
              </a:rPr>
              <a:t>页脚</a:t>
            </a:r>
          </a:p>
        </p:txBody>
      </p:sp>
      <p:sp>
        <p:nvSpPr>
          <p:cNvPr name="AutoShape 6" id="6"/>
          <p:cNvSpPr/>
          <p:nvPr>
            <p:ph idx="15" type="body" sz="quarter" hasCustomPrompt="true"/>
          </p:nvPr>
        </p:nvSpPr>
        <p:spPr>
          <a:xfrm rot="0" flipH="false" flipV="false"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200" b="false" i="false" u="none" strike="noStrike" spc="0">
                <a:solidFill>
                  <a:srgbClr val="78797C">
                    <a:alpha val="100000"/>
                  </a:srgbClr>
                </a:solidFill>
                <a:latin typeface="等线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78797C"/>
                </a:solidFill>
                <a:latin typeface="等线"/>
                <a:ea typeface="等线"/>
                <a:cs typeface="等线"/>
                <a:sym typeface="等线"/>
              </a:rPr>
              <a:t>‹#›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6" type="body" sz="quarter" hasCustomPrompt="true"/>
          </p:nvPr>
        </p:nvSpPr>
        <p:spPr>
          <a:xfrm rot="0" flipH="false" flipV="false"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l">
              <a:lnSpc>
                <a:spcPct val="91666"/>
              </a:lnSpc>
              <a:defRPr sz="4400" b="false" i="false" u="none" strike="noStrike" spc="0">
                <a:solidFill>
                  <a:srgbClr val="1A1F2E">
                    <a:alpha val="100000"/>
                  </a:srgbClr>
                </a:solidFill>
                <a:latin typeface="等线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1A1F2E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17" type="body" sz="quarter" hasCustomPrompt="true"/>
          </p:nvPr>
        </p:nvSpPr>
        <p:spPr>
          <a:xfrm rot="0" flipH="false" flipV="false">
            <a:off x="838200" y="1825625"/>
            <a:ext cx="5181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91666"/>
              </a:lnSpc>
              <a:defRPr sz="2800" b="false" i="false" u="none" strike="noStrike" spc="0">
                <a:solidFill>
                  <a:srgbClr val="3C4858">
                    <a:alpha val="100000"/>
                  </a:srgbClr>
                </a:solidFill>
                <a:latin typeface="等线"/>
              </a:defRPr>
            </a:lvl1pPr>
          </a:lstStyle>
          <a:p>
            <a:pPr algn="l" indent="-355600" marL="355600">
              <a:lnSpc>
                <a:spcPct val="91666"/>
              </a:lnSpc>
              <a:spcBef>
                <a:spcPts val="1000"/>
              </a:spcBef>
              <a:buClr>
                <a:srgbClr val="3C4858"/>
              </a:buClr>
              <a:buChar char="•"/>
            </a:pPr>
            <a:r>
              <a:rPr lang="en-US" b="false" i="false" strike="noStrike" u="none" sz="28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单击此处编辑母版文本样式</a:t>
            </a:r>
          </a:p>
          <a:p>
            <a:pPr algn="l" indent="-304800" lvl="1" marL="762000">
              <a:lnSpc>
                <a:spcPct val="91666"/>
              </a:lnSpc>
              <a:spcBef>
                <a:spcPts val="500"/>
              </a:spcBef>
              <a:buClr>
                <a:srgbClr val="1A1F2E"/>
              </a:buClr>
              <a:buChar char="•"/>
            </a:pPr>
            <a:r>
              <a:rPr lang="en-US" b="false" i="false" strike="noStrike" u="none" sz="24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二级</a:t>
            </a:r>
          </a:p>
          <a:p>
            <a:pPr algn="l" indent="-254000" lvl="2" marL="1168400">
              <a:lnSpc>
                <a:spcPct val="91666"/>
              </a:lnSpc>
              <a:spcBef>
                <a:spcPts val="500"/>
              </a:spcBef>
              <a:buClr>
                <a:srgbClr val="1A1F2E"/>
              </a:buClr>
              <a:buChar char="•"/>
            </a:pPr>
            <a:r>
              <a:rPr lang="en-US" b="false" i="false" strike="noStrike" u="none" sz="20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三级</a:t>
            </a:r>
          </a:p>
          <a:p>
            <a:pPr algn="l" indent="-228600" lvl="3" marL="1600200">
              <a:lnSpc>
                <a:spcPct val="91666"/>
              </a:lnSpc>
              <a:spcBef>
                <a:spcPts val="500"/>
              </a:spcBef>
              <a:buClr>
                <a:srgbClr val="1A1F2E"/>
              </a:buClr>
              <a:buChar char="•"/>
            </a:pPr>
            <a:r>
              <a:rPr lang="en-US" b="false" i="false" strike="noStrike" u="none" sz="18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四级</a:t>
            </a:r>
          </a:p>
          <a:p>
            <a:pPr algn="l" indent="-228600" lvl="4" marL="2057400">
              <a:lnSpc>
                <a:spcPct val="91666"/>
              </a:lnSpc>
              <a:spcBef>
                <a:spcPts val="500"/>
              </a:spcBef>
              <a:buClr>
                <a:srgbClr val="1A1F2E"/>
              </a:buClr>
              <a:buChar char="•"/>
            </a:pPr>
            <a:r>
              <a:rPr lang="en-US" b="false" i="false" strike="noStrike" u="none" sz="18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五级</a:t>
            </a:r>
          </a:p>
        </p:txBody>
      </p:sp>
      <p:sp>
        <p:nvSpPr>
          <p:cNvPr name="AutoShape 4" id="4"/>
          <p:cNvSpPr/>
          <p:nvPr>
            <p:ph idx="18" type="body" sz="quarter" hasCustomPrompt="true"/>
          </p:nvPr>
        </p:nvSpPr>
        <p:spPr>
          <a:xfrm rot="0" flipH="false" flipV="false">
            <a:off x="6172200" y="1825625"/>
            <a:ext cx="5181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2800" b="false" i="false" u="none" strike="noStrike" spc="0">
                <a:solidFill>
                  <a:srgbClr val="3C4858">
                    <a:alpha val="100000"/>
                  </a:srgbClr>
                </a:solidFill>
                <a:latin typeface="等线"/>
              </a:defRPr>
            </a:lvl1pPr>
          </a:lstStyle>
          <a:p>
            <a:pPr algn="l" indent="-355600" marL="355600">
              <a:lnSpc>
                <a:spcPct val="91666"/>
              </a:lnSpc>
              <a:spcBef>
                <a:spcPts val="1000"/>
              </a:spcBef>
              <a:buClr>
                <a:srgbClr val="3C4858"/>
              </a:buClr>
              <a:buChar char="•"/>
            </a:pPr>
            <a:r>
              <a:rPr lang="en-US" b="false" i="false" strike="noStrike" u="none" sz="28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单击此处编辑母版文本样式</a:t>
            </a:r>
          </a:p>
          <a:p>
            <a:pPr algn="l" indent="-304800" lvl="1" marL="762000">
              <a:lnSpc>
                <a:spcPct val="91666"/>
              </a:lnSpc>
              <a:spcBef>
                <a:spcPts val="500"/>
              </a:spcBef>
              <a:buClr>
                <a:srgbClr val="1A1F2E"/>
              </a:buClr>
              <a:buChar char="•"/>
            </a:pPr>
            <a:r>
              <a:rPr lang="en-US" b="false" i="false" strike="noStrike" u="none" sz="24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二级</a:t>
            </a:r>
          </a:p>
          <a:p>
            <a:pPr algn="l" indent="-254000" lvl="2" marL="1168400">
              <a:lnSpc>
                <a:spcPct val="91666"/>
              </a:lnSpc>
              <a:spcBef>
                <a:spcPts val="500"/>
              </a:spcBef>
              <a:buClr>
                <a:srgbClr val="1A1F2E"/>
              </a:buClr>
              <a:buChar char="•"/>
            </a:pPr>
            <a:r>
              <a:rPr lang="en-US" b="false" i="false" strike="noStrike" u="none" sz="20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三级</a:t>
            </a:r>
          </a:p>
          <a:p>
            <a:pPr algn="l" indent="-228600" lvl="3" marL="1600200">
              <a:lnSpc>
                <a:spcPct val="91666"/>
              </a:lnSpc>
              <a:spcBef>
                <a:spcPts val="500"/>
              </a:spcBef>
              <a:buClr>
                <a:srgbClr val="1A1F2E"/>
              </a:buClr>
              <a:buChar char="•"/>
            </a:pPr>
            <a:r>
              <a:rPr lang="en-US" b="false" i="false" strike="noStrike" u="none" sz="18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四级</a:t>
            </a:r>
          </a:p>
          <a:p>
            <a:pPr algn="l" indent="-228600" lvl="4" marL="2057400">
              <a:lnSpc>
                <a:spcPct val="91666"/>
              </a:lnSpc>
              <a:spcBef>
                <a:spcPts val="500"/>
              </a:spcBef>
              <a:buClr>
                <a:srgbClr val="1A1F2E"/>
              </a:buClr>
              <a:buChar char="•"/>
            </a:pPr>
            <a:r>
              <a:rPr lang="en-US" b="false" i="false" strike="noStrike" u="none" sz="18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五级</a:t>
            </a:r>
          </a:p>
        </p:txBody>
      </p:sp>
      <p:sp>
        <p:nvSpPr>
          <p:cNvPr name="AutoShape 5" id="5"/>
          <p:cNvSpPr/>
          <p:nvPr>
            <p:ph idx="19" type="body" sz="quarter" hasCustomPrompt="true"/>
          </p:nvPr>
        </p:nvSpPr>
        <p:spPr>
          <a:xfrm rot="0" flipH="false" flipV="false"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78797C">
                    <a:alpha val="100000"/>
                  </a:srgbClr>
                </a:solidFill>
                <a:latin typeface="等线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78797C"/>
                </a:solidFill>
                <a:latin typeface="等线"/>
                <a:ea typeface="等线"/>
                <a:cs typeface="等线"/>
                <a:sym typeface="等线"/>
              </a:rPr>
              <a:t>2026/4/21</a:t>
            </a:r>
          </a:p>
        </p:txBody>
      </p:sp>
      <p:sp>
        <p:nvSpPr>
          <p:cNvPr name="AutoShape 6" id="6"/>
          <p:cNvSpPr/>
          <p:nvPr>
            <p:ph idx="20" type="body" sz="quarter" hasCustomPrompt="true"/>
          </p:nvPr>
        </p:nvSpPr>
        <p:spPr>
          <a:xfrm rot="0" flipH="false" flipV="false"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78797C"/>
                </a:solidFill>
                <a:latin typeface="等线"/>
                <a:ea typeface="等线"/>
                <a:cs typeface="等线"/>
                <a:sym typeface="等线"/>
              </a:rPr>
              <a:t>页脚</a:t>
            </a:r>
          </a:p>
        </p:txBody>
      </p:sp>
      <p:sp>
        <p:nvSpPr>
          <p:cNvPr name="AutoShape 7" id="7"/>
          <p:cNvSpPr/>
          <p:nvPr>
            <p:ph idx="21" type="body" sz="quarter" hasCustomPrompt="true"/>
          </p:nvPr>
        </p:nvSpPr>
        <p:spPr>
          <a:xfrm rot="0" flipH="false" flipV="false"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200" b="false" i="false" u="none" strike="noStrike" spc="0">
                <a:solidFill>
                  <a:srgbClr val="78797C">
                    <a:alpha val="100000"/>
                  </a:srgbClr>
                </a:solidFill>
                <a:latin typeface="等线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78797C"/>
                </a:solidFill>
                <a:latin typeface="等线"/>
                <a:ea typeface="等线"/>
                <a:cs typeface="等线"/>
                <a:sym typeface="等线"/>
              </a:rPr>
              <a:t>‹#›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2" type="body" sz="quarter" hasCustomPrompt="true"/>
          </p:nvPr>
        </p:nvSpPr>
        <p:spPr>
          <a:xfrm rot="0" flipH="false" flipV="false">
            <a:off x="839788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l">
              <a:lnSpc>
                <a:spcPct val="91666"/>
              </a:lnSpc>
              <a:defRPr sz="4400" b="false" i="false" u="none" strike="noStrike" spc="0">
                <a:solidFill>
                  <a:srgbClr val="1A1F2E">
                    <a:alpha val="100000"/>
                  </a:srgbClr>
                </a:solidFill>
                <a:latin typeface="等线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1A1F2E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23" type="body" sz="quarter" hasCustomPrompt="true"/>
          </p:nvPr>
        </p:nvSpPr>
        <p:spPr>
          <a:xfrm rot="0" flipH="false" flipV="false">
            <a:off x="839788" y="1681163"/>
            <a:ext cx="5157787" cy="82391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rmAutofit lnSpcReduction="0"/>
          </a:bodyPr>
          <a:lstStyle>
            <a:lvl1pPr algn="l">
              <a:lnSpc>
                <a:spcPct val="91666"/>
              </a:lnSpc>
              <a:defRPr sz="2400" b="true" i="false" u="none" strike="noStrike" spc="0">
                <a:solidFill>
                  <a:srgbClr val="3C4858">
                    <a:alpha val="100000"/>
                  </a:srgbClr>
                </a:solidFill>
                <a:latin typeface="等线"/>
              </a:defRPr>
            </a:lvl1pPr>
          </a:lstStyle>
          <a:p>
            <a:pPr algn="l" indent="0">
              <a:lnSpc>
                <a:spcPct val="91666"/>
              </a:lnSpc>
              <a:spcBef>
                <a:spcPts val="1000"/>
              </a:spcBef>
            </a:pPr>
            <a:r>
              <a:rPr lang="en-US" b="true" i="false" strike="noStrike" u="none" sz="24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单击此处编辑母版文本样式</a:t>
            </a:r>
          </a:p>
        </p:txBody>
      </p:sp>
      <p:sp>
        <p:nvSpPr>
          <p:cNvPr name="AutoShape 4" id="4"/>
          <p:cNvSpPr/>
          <p:nvPr>
            <p:ph idx="24" type="body" sz="quarter" hasCustomPrompt="true"/>
          </p:nvPr>
        </p:nvSpPr>
        <p:spPr>
          <a:xfrm rot="0" flipH="false" flipV="false">
            <a:off x="839788" y="2505075"/>
            <a:ext cx="5157787" cy="3684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2800" b="false" i="false" u="none" strike="noStrike" spc="0">
                <a:solidFill>
                  <a:srgbClr val="3C4858">
                    <a:alpha val="100000"/>
                  </a:srgbClr>
                </a:solidFill>
                <a:latin typeface="等线"/>
              </a:defRPr>
            </a:lvl1pPr>
          </a:lstStyle>
          <a:p>
            <a:pPr algn="l" indent="-355600" marL="355600">
              <a:lnSpc>
                <a:spcPct val="91666"/>
              </a:lnSpc>
              <a:spcBef>
                <a:spcPts val="1000"/>
              </a:spcBef>
              <a:buClr>
                <a:srgbClr val="3C4858"/>
              </a:buClr>
              <a:buChar char="•"/>
            </a:pPr>
            <a:r>
              <a:rPr lang="en-US" b="false" i="false" strike="noStrike" u="none" sz="28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单击此处编辑母版文本样式</a:t>
            </a:r>
          </a:p>
          <a:p>
            <a:pPr algn="l" indent="-304800" lvl="1" marL="762000">
              <a:lnSpc>
                <a:spcPct val="91666"/>
              </a:lnSpc>
              <a:spcBef>
                <a:spcPts val="500"/>
              </a:spcBef>
              <a:buClr>
                <a:srgbClr val="1A1F2E"/>
              </a:buClr>
              <a:buChar char="•"/>
            </a:pPr>
            <a:r>
              <a:rPr lang="en-US" b="false" i="false" strike="noStrike" u="none" sz="24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二级</a:t>
            </a:r>
          </a:p>
          <a:p>
            <a:pPr algn="l" indent="-254000" lvl="2" marL="1168400">
              <a:lnSpc>
                <a:spcPct val="91666"/>
              </a:lnSpc>
              <a:spcBef>
                <a:spcPts val="500"/>
              </a:spcBef>
              <a:buClr>
                <a:srgbClr val="1A1F2E"/>
              </a:buClr>
              <a:buChar char="•"/>
            </a:pPr>
            <a:r>
              <a:rPr lang="en-US" b="false" i="false" strike="noStrike" u="none" sz="20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三级</a:t>
            </a:r>
          </a:p>
          <a:p>
            <a:pPr algn="l" indent="-228600" lvl="3" marL="1600200">
              <a:lnSpc>
                <a:spcPct val="91666"/>
              </a:lnSpc>
              <a:spcBef>
                <a:spcPts val="500"/>
              </a:spcBef>
              <a:buClr>
                <a:srgbClr val="1A1F2E"/>
              </a:buClr>
              <a:buChar char="•"/>
            </a:pPr>
            <a:r>
              <a:rPr lang="en-US" b="false" i="false" strike="noStrike" u="none" sz="18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四级</a:t>
            </a:r>
          </a:p>
          <a:p>
            <a:pPr algn="l" indent="-228600" lvl="4" marL="2057400">
              <a:lnSpc>
                <a:spcPct val="91666"/>
              </a:lnSpc>
              <a:spcBef>
                <a:spcPts val="500"/>
              </a:spcBef>
              <a:buClr>
                <a:srgbClr val="1A1F2E"/>
              </a:buClr>
              <a:buChar char="•"/>
            </a:pPr>
            <a:r>
              <a:rPr lang="en-US" b="false" i="false" strike="noStrike" u="none" sz="18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五级</a:t>
            </a:r>
          </a:p>
        </p:txBody>
      </p:sp>
      <p:sp>
        <p:nvSpPr>
          <p:cNvPr name="AutoShape 5" id="5"/>
          <p:cNvSpPr/>
          <p:nvPr>
            <p:ph idx="25" type="body" sz="quarter" hasCustomPrompt="true"/>
          </p:nvPr>
        </p:nvSpPr>
        <p:spPr>
          <a:xfrm rot="0" flipH="false" flipV="false">
            <a:off x="6172200" y="1681163"/>
            <a:ext cx="5183188" cy="82391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2400" b="true" i="false" u="none" strike="noStrike" spc="0">
                <a:solidFill>
                  <a:srgbClr val="3C4858">
                    <a:alpha val="100000"/>
                  </a:srgbClr>
                </a:solidFill>
                <a:latin typeface="等线"/>
              </a:defRPr>
            </a:lvl1pPr>
          </a:lstStyle>
          <a:p>
            <a:pPr algn="l" indent="0">
              <a:lnSpc>
                <a:spcPct val="91666"/>
              </a:lnSpc>
              <a:spcBef>
                <a:spcPts val="1000"/>
              </a:spcBef>
            </a:pPr>
            <a:r>
              <a:rPr lang="en-US" b="true" i="false" strike="noStrike" u="none" sz="24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单击此处编辑母版文本样式</a:t>
            </a:r>
          </a:p>
        </p:txBody>
      </p:sp>
      <p:sp>
        <p:nvSpPr>
          <p:cNvPr name="AutoShape 6" id="6"/>
          <p:cNvSpPr/>
          <p:nvPr>
            <p:ph idx="26" type="body" sz="quarter" hasCustomPrompt="true"/>
          </p:nvPr>
        </p:nvSpPr>
        <p:spPr>
          <a:xfrm rot="0" flipH="false" flipV="false">
            <a:off x="6172200" y="2505075"/>
            <a:ext cx="5183188" cy="3684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2800" b="false" i="false" u="none" strike="noStrike" spc="0">
                <a:solidFill>
                  <a:srgbClr val="3C4858">
                    <a:alpha val="100000"/>
                  </a:srgbClr>
                </a:solidFill>
                <a:latin typeface="等线"/>
              </a:defRPr>
            </a:lvl1pPr>
          </a:lstStyle>
          <a:p>
            <a:pPr algn="l" indent="-355600" marL="355600">
              <a:lnSpc>
                <a:spcPct val="91666"/>
              </a:lnSpc>
              <a:spcBef>
                <a:spcPts val="1000"/>
              </a:spcBef>
              <a:buClr>
                <a:srgbClr val="3C4858"/>
              </a:buClr>
              <a:buChar char="•"/>
            </a:pPr>
            <a:r>
              <a:rPr lang="en-US" b="false" i="false" strike="noStrike" u="none" sz="28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单击此处编辑母版文本样式</a:t>
            </a:r>
          </a:p>
          <a:p>
            <a:pPr algn="l" indent="-304800" lvl="1" marL="762000">
              <a:lnSpc>
                <a:spcPct val="91666"/>
              </a:lnSpc>
              <a:spcBef>
                <a:spcPts val="500"/>
              </a:spcBef>
              <a:buClr>
                <a:srgbClr val="1A1F2E"/>
              </a:buClr>
              <a:buChar char="•"/>
            </a:pPr>
            <a:r>
              <a:rPr lang="en-US" b="false" i="false" strike="noStrike" u="none" sz="24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二级</a:t>
            </a:r>
          </a:p>
          <a:p>
            <a:pPr algn="l" indent="-254000" lvl="2" marL="1168400">
              <a:lnSpc>
                <a:spcPct val="91666"/>
              </a:lnSpc>
              <a:spcBef>
                <a:spcPts val="500"/>
              </a:spcBef>
              <a:buClr>
                <a:srgbClr val="1A1F2E"/>
              </a:buClr>
              <a:buChar char="•"/>
            </a:pPr>
            <a:r>
              <a:rPr lang="en-US" b="false" i="false" strike="noStrike" u="none" sz="20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三级</a:t>
            </a:r>
          </a:p>
          <a:p>
            <a:pPr algn="l" indent="-228600" lvl="3" marL="1600200">
              <a:lnSpc>
                <a:spcPct val="91666"/>
              </a:lnSpc>
              <a:spcBef>
                <a:spcPts val="500"/>
              </a:spcBef>
              <a:buClr>
                <a:srgbClr val="1A1F2E"/>
              </a:buClr>
              <a:buChar char="•"/>
            </a:pPr>
            <a:r>
              <a:rPr lang="en-US" b="false" i="false" strike="noStrike" u="none" sz="18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四级</a:t>
            </a:r>
          </a:p>
          <a:p>
            <a:pPr algn="l" indent="-228600" lvl="4" marL="2057400">
              <a:lnSpc>
                <a:spcPct val="91666"/>
              </a:lnSpc>
              <a:spcBef>
                <a:spcPts val="500"/>
              </a:spcBef>
              <a:buClr>
                <a:srgbClr val="1A1F2E"/>
              </a:buClr>
              <a:buChar char="•"/>
            </a:pPr>
            <a:r>
              <a:rPr lang="en-US" b="false" i="false" strike="noStrike" u="none" sz="18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五级</a:t>
            </a:r>
          </a:p>
        </p:txBody>
      </p:sp>
      <p:sp>
        <p:nvSpPr>
          <p:cNvPr name="AutoShape 7" id="7"/>
          <p:cNvSpPr/>
          <p:nvPr>
            <p:ph idx="27" type="body" sz="quarter" hasCustomPrompt="true"/>
          </p:nvPr>
        </p:nvSpPr>
        <p:spPr>
          <a:xfrm rot="0" flipH="false" flipV="false"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78797C">
                    <a:alpha val="100000"/>
                  </a:srgbClr>
                </a:solidFill>
                <a:latin typeface="等线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78797C"/>
                </a:solidFill>
                <a:latin typeface="等线"/>
                <a:ea typeface="等线"/>
                <a:cs typeface="等线"/>
                <a:sym typeface="等线"/>
              </a:rPr>
              <a:t>2026/4/21</a:t>
            </a:r>
          </a:p>
        </p:txBody>
      </p:sp>
      <p:sp>
        <p:nvSpPr>
          <p:cNvPr name="AutoShape 8" id="8"/>
          <p:cNvSpPr/>
          <p:nvPr>
            <p:ph idx="28" type="body" sz="quarter" hasCustomPrompt="true"/>
          </p:nvPr>
        </p:nvSpPr>
        <p:spPr>
          <a:xfrm rot="0" flipH="false" flipV="false"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78797C"/>
                </a:solidFill>
                <a:latin typeface="等线"/>
                <a:ea typeface="等线"/>
                <a:cs typeface="等线"/>
                <a:sym typeface="等线"/>
              </a:rPr>
              <a:t>页脚</a:t>
            </a:r>
          </a:p>
        </p:txBody>
      </p:sp>
      <p:sp>
        <p:nvSpPr>
          <p:cNvPr name="AutoShape 9" id="9"/>
          <p:cNvSpPr/>
          <p:nvPr>
            <p:ph idx="29" type="body" sz="quarter" hasCustomPrompt="true"/>
          </p:nvPr>
        </p:nvSpPr>
        <p:spPr>
          <a:xfrm rot="0" flipH="false" flipV="false"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200" b="false" i="false" u="none" strike="noStrike" spc="0">
                <a:solidFill>
                  <a:srgbClr val="78797C">
                    <a:alpha val="100000"/>
                  </a:srgbClr>
                </a:solidFill>
                <a:latin typeface="等线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78797C"/>
                </a:solidFill>
                <a:latin typeface="等线"/>
                <a:ea typeface="等线"/>
                <a:cs typeface="等线"/>
                <a:sym typeface="等线"/>
              </a:rPr>
              <a:t>‹#›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0" type="body" sz="quarter" hasCustomPrompt="true"/>
          </p:nvPr>
        </p:nvSpPr>
        <p:spPr>
          <a:xfrm rot="0" flipH="false" flipV="false"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l">
              <a:lnSpc>
                <a:spcPct val="91666"/>
              </a:lnSpc>
              <a:defRPr sz="4400" b="false" i="false" u="none" strike="noStrike" spc="0">
                <a:solidFill>
                  <a:srgbClr val="1A1F2E">
                    <a:alpha val="100000"/>
                  </a:srgbClr>
                </a:solidFill>
                <a:latin typeface="等线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1A1F2E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31" type="body" sz="quarter" hasCustomPrompt="true"/>
          </p:nvPr>
        </p:nvSpPr>
        <p:spPr>
          <a:xfrm rot="0" flipH="false" flipV="false"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78797C">
                    <a:alpha val="100000"/>
                  </a:srgbClr>
                </a:solidFill>
                <a:latin typeface="等线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78797C"/>
                </a:solidFill>
                <a:latin typeface="等线"/>
                <a:ea typeface="等线"/>
                <a:cs typeface="等线"/>
                <a:sym typeface="等线"/>
              </a:rPr>
              <a:t>2026/4/21</a:t>
            </a:r>
          </a:p>
        </p:txBody>
      </p:sp>
      <p:sp>
        <p:nvSpPr>
          <p:cNvPr name="AutoShape 4" id="4"/>
          <p:cNvSpPr/>
          <p:nvPr>
            <p:ph idx="32" type="body" sz="quarter" hasCustomPrompt="true"/>
          </p:nvPr>
        </p:nvSpPr>
        <p:spPr>
          <a:xfrm rot="0" flipH="false" flipV="false"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78797C"/>
                </a:solidFill>
                <a:latin typeface="等线"/>
                <a:ea typeface="等线"/>
                <a:cs typeface="等线"/>
                <a:sym typeface="等线"/>
              </a:rPr>
              <a:t>页脚</a:t>
            </a:r>
          </a:p>
        </p:txBody>
      </p:sp>
      <p:sp>
        <p:nvSpPr>
          <p:cNvPr name="AutoShape 5" id="5"/>
          <p:cNvSpPr/>
          <p:nvPr>
            <p:ph idx="33" type="body" sz="quarter" hasCustomPrompt="true"/>
          </p:nvPr>
        </p:nvSpPr>
        <p:spPr>
          <a:xfrm rot="0" flipH="false" flipV="false"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200" b="false" i="false" u="none" strike="noStrike" spc="0">
                <a:solidFill>
                  <a:srgbClr val="78797C">
                    <a:alpha val="100000"/>
                  </a:srgbClr>
                </a:solidFill>
                <a:latin typeface="等线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78797C"/>
                </a:solidFill>
                <a:latin typeface="等线"/>
                <a:ea typeface="等线"/>
                <a:cs typeface="等线"/>
                <a:sym typeface="等线"/>
              </a:rPr>
              <a:t>‹#›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4" type="body" sz="quarter" hasCustomPrompt="true"/>
          </p:nvPr>
        </p:nvSpPr>
        <p:spPr>
          <a:xfrm rot="0" flipH="false" flipV="false"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78797C">
                    <a:alpha val="100000"/>
                  </a:srgbClr>
                </a:solidFill>
                <a:latin typeface="等线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78797C"/>
                </a:solidFill>
                <a:latin typeface="等线"/>
                <a:ea typeface="等线"/>
                <a:cs typeface="等线"/>
                <a:sym typeface="等线"/>
              </a:rPr>
              <a:t>2026/4/21</a:t>
            </a:r>
          </a:p>
        </p:txBody>
      </p:sp>
      <p:sp>
        <p:nvSpPr>
          <p:cNvPr name="AutoShape 3" id="3"/>
          <p:cNvSpPr/>
          <p:nvPr>
            <p:ph idx="35" type="body" sz="quarter" hasCustomPrompt="true"/>
          </p:nvPr>
        </p:nvSpPr>
        <p:spPr>
          <a:xfrm rot="0" flipH="false" flipV="false"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78797C"/>
                </a:solidFill>
                <a:latin typeface="等线"/>
                <a:ea typeface="等线"/>
                <a:cs typeface="等线"/>
                <a:sym typeface="等线"/>
              </a:rPr>
              <a:t>页脚</a:t>
            </a:r>
          </a:p>
        </p:txBody>
      </p:sp>
      <p:sp>
        <p:nvSpPr>
          <p:cNvPr name="AutoShape 4" id="4"/>
          <p:cNvSpPr/>
          <p:nvPr>
            <p:ph idx="36" type="body" sz="quarter" hasCustomPrompt="true"/>
          </p:nvPr>
        </p:nvSpPr>
        <p:spPr>
          <a:xfrm rot="0" flipH="false" flipV="false"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200" b="false" i="false" u="none" strike="noStrike" spc="0">
                <a:solidFill>
                  <a:srgbClr val="78797C">
                    <a:alpha val="100000"/>
                  </a:srgbClr>
                </a:solidFill>
                <a:latin typeface="等线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78797C"/>
                </a:solidFill>
                <a:latin typeface="等线"/>
                <a:ea typeface="等线"/>
                <a:cs typeface="等线"/>
                <a:sym typeface="等线"/>
              </a:rPr>
              <a:t>‹#›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7" type="body" sz="quarter" hasCustomPrompt="true"/>
          </p:nvPr>
        </p:nvSpPr>
        <p:spPr>
          <a:xfrm rot="0" flipH="false" flipV="false">
            <a:off x="839788" y="457200"/>
            <a:ext cx="3932237" cy="160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rmAutofit lnSpcReduction="0"/>
          </a:bodyPr>
          <a:lstStyle>
            <a:lvl1pPr algn="l">
              <a:lnSpc>
                <a:spcPct val="91666"/>
              </a:lnSpc>
              <a:defRPr sz="3200" b="false" i="false" u="none" strike="noStrike" spc="0">
                <a:solidFill>
                  <a:srgbClr val="1A1F2E">
                    <a:alpha val="100000"/>
                  </a:srgbClr>
                </a:solidFill>
                <a:latin typeface="等线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false" i="false" strike="noStrike" u="none" sz="3200">
                <a:solidFill>
                  <a:srgbClr val="1A1F2E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38" type="body" sz="quarter" hasCustomPrompt="true"/>
          </p:nvPr>
        </p:nvSpPr>
        <p:spPr>
          <a:xfrm rot="0" flipH="false" flipV="false">
            <a:off x="5183188" y="987425"/>
            <a:ext cx="6172200" cy="48736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91666"/>
              </a:lnSpc>
              <a:defRPr sz="3200" b="false" i="false" u="none" strike="noStrike" spc="0">
                <a:solidFill>
                  <a:srgbClr val="3C4858">
                    <a:alpha val="100000"/>
                  </a:srgbClr>
                </a:solidFill>
                <a:latin typeface="等线"/>
              </a:defRPr>
            </a:lvl1pPr>
          </a:lstStyle>
          <a:p>
            <a:pPr algn="l" indent="-406400" marL="406400">
              <a:lnSpc>
                <a:spcPct val="91666"/>
              </a:lnSpc>
              <a:spcBef>
                <a:spcPts val="1000"/>
              </a:spcBef>
              <a:buClr>
                <a:srgbClr val="3C4858"/>
              </a:buClr>
              <a:buChar char="•"/>
            </a:pPr>
            <a:r>
              <a:rPr lang="en-US" b="false" i="false" strike="noStrike" u="none" sz="32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单击此处编辑母版文本样式</a:t>
            </a:r>
          </a:p>
          <a:p>
            <a:pPr algn="l" indent="-355600" lvl="1" marL="812800">
              <a:lnSpc>
                <a:spcPct val="91666"/>
              </a:lnSpc>
              <a:spcBef>
                <a:spcPts val="500"/>
              </a:spcBef>
              <a:buClr>
                <a:srgbClr val="1A1F2E"/>
              </a:buClr>
              <a:buChar char="•"/>
            </a:pPr>
            <a:r>
              <a:rPr lang="en-US" b="false" i="false" strike="noStrike" u="none" sz="28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二级</a:t>
            </a:r>
          </a:p>
          <a:p>
            <a:pPr algn="l" indent="-304800" lvl="2" marL="1219200">
              <a:lnSpc>
                <a:spcPct val="91666"/>
              </a:lnSpc>
              <a:spcBef>
                <a:spcPts val="500"/>
              </a:spcBef>
              <a:buClr>
                <a:srgbClr val="1A1F2E"/>
              </a:buClr>
              <a:buChar char="•"/>
            </a:pPr>
            <a:r>
              <a:rPr lang="en-US" b="false" i="false" strike="noStrike" u="none" sz="24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三级</a:t>
            </a:r>
          </a:p>
          <a:p>
            <a:pPr algn="l" indent="-254000" lvl="3" marL="1625600">
              <a:lnSpc>
                <a:spcPct val="91666"/>
              </a:lnSpc>
              <a:spcBef>
                <a:spcPts val="500"/>
              </a:spcBef>
              <a:buClr>
                <a:srgbClr val="1A1F2E"/>
              </a:buClr>
              <a:buChar char="•"/>
            </a:pPr>
            <a:r>
              <a:rPr lang="en-US" b="false" i="false" strike="noStrike" u="none" sz="20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四级</a:t>
            </a:r>
          </a:p>
          <a:p>
            <a:pPr algn="l" indent="-254000" lvl="4" marL="2082800">
              <a:lnSpc>
                <a:spcPct val="91666"/>
              </a:lnSpc>
              <a:spcBef>
                <a:spcPts val="500"/>
              </a:spcBef>
              <a:buClr>
                <a:srgbClr val="1A1F2E"/>
              </a:buClr>
              <a:buChar char="•"/>
            </a:pPr>
            <a:r>
              <a:rPr lang="en-US" b="false" i="false" strike="noStrike" u="none" sz="20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五级</a:t>
            </a:r>
          </a:p>
        </p:txBody>
      </p:sp>
      <p:sp>
        <p:nvSpPr>
          <p:cNvPr name="AutoShape 4" id="4"/>
          <p:cNvSpPr/>
          <p:nvPr>
            <p:ph idx="39" type="body" sz="quarter" hasCustomPrompt="true"/>
          </p:nvPr>
        </p:nvSpPr>
        <p:spPr>
          <a:xfrm rot="0" flipH="false" flipV="false">
            <a:off x="839788" y="2057400"/>
            <a:ext cx="3932237" cy="3811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1600" b="false" i="false" u="none" strike="noStrike" spc="0">
                <a:solidFill>
                  <a:srgbClr val="3C4858">
                    <a:alpha val="100000"/>
                  </a:srgbClr>
                </a:solidFill>
                <a:latin typeface="等线"/>
              </a:defRPr>
            </a:lvl1pPr>
          </a:lstStyle>
          <a:p>
            <a:pPr algn="l" indent="0">
              <a:lnSpc>
                <a:spcPct val="91666"/>
              </a:lnSpc>
              <a:spcBef>
                <a:spcPts val="1000"/>
              </a:spcBef>
            </a:pPr>
            <a:r>
              <a:rPr lang="en-US" b="false" i="false" strike="noStrike" u="none" sz="16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单击此处编辑母版文本样式</a:t>
            </a:r>
          </a:p>
        </p:txBody>
      </p:sp>
      <p:sp>
        <p:nvSpPr>
          <p:cNvPr name="AutoShape 5" id="5"/>
          <p:cNvSpPr/>
          <p:nvPr>
            <p:ph idx="40" type="body" sz="quarter" hasCustomPrompt="true"/>
          </p:nvPr>
        </p:nvSpPr>
        <p:spPr>
          <a:xfrm rot="0" flipH="false" flipV="false"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78797C">
                    <a:alpha val="100000"/>
                  </a:srgbClr>
                </a:solidFill>
                <a:latin typeface="等线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78797C"/>
                </a:solidFill>
                <a:latin typeface="等线"/>
                <a:ea typeface="等线"/>
                <a:cs typeface="等线"/>
                <a:sym typeface="等线"/>
              </a:rPr>
              <a:t>2026/4/21</a:t>
            </a:r>
          </a:p>
        </p:txBody>
      </p:sp>
      <p:sp>
        <p:nvSpPr>
          <p:cNvPr name="AutoShape 6" id="6"/>
          <p:cNvSpPr/>
          <p:nvPr>
            <p:ph idx="41" type="body" sz="quarter" hasCustomPrompt="true"/>
          </p:nvPr>
        </p:nvSpPr>
        <p:spPr>
          <a:xfrm rot="0" flipH="false" flipV="false"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78797C"/>
                </a:solidFill>
                <a:latin typeface="等线"/>
                <a:ea typeface="等线"/>
                <a:cs typeface="等线"/>
                <a:sym typeface="等线"/>
              </a:rPr>
              <a:t>页脚</a:t>
            </a:r>
          </a:p>
        </p:txBody>
      </p:sp>
      <p:sp>
        <p:nvSpPr>
          <p:cNvPr name="AutoShape 7" id="7"/>
          <p:cNvSpPr/>
          <p:nvPr>
            <p:ph idx="42" type="body" sz="quarter" hasCustomPrompt="true"/>
          </p:nvPr>
        </p:nvSpPr>
        <p:spPr>
          <a:xfrm rot="0" flipH="false" flipV="false"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200" b="false" i="false" u="none" strike="noStrike" spc="0">
                <a:solidFill>
                  <a:srgbClr val="78797C">
                    <a:alpha val="100000"/>
                  </a:srgbClr>
                </a:solidFill>
                <a:latin typeface="等线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78797C"/>
                </a:solidFill>
                <a:latin typeface="等线"/>
                <a:ea typeface="等线"/>
                <a:cs typeface="等线"/>
                <a:sym typeface="等线"/>
              </a:rPr>
              <a:t>‹#›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3" type="body" sz="quarter" hasCustomPrompt="true"/>
          </p:nvPr>
        </p:nvSpPr>
        <p:spPr>
          <a:xfrm rot="0" flipH="false" flipV="false">
            <a:off x="839788" y="457200"/>
            <a:ext cx="3932237" cy="160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rmAutofit lnSpcReduction="0"/>
          </a:bodyPr>
          <a:lstStyle>
            <a:lvl1pPr algn="l">
              <a:lnSpc>
                <a:spcPct val="91666"/>
              </a:lnSpc>
              <a:defRPr sz="3200" b="false" i="false" u="none" strike="noStrike" spc="0">
                <a:solidFill>
                  <a:srgbClr val="1A1F2E">
                    <a:alpha val="100000"/>
                  </a:srgbClr>
                </a:solidFill>
                <a:latin typeface="等线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false" i="false" strike="noStrike" u="none" sz="3200">
                <a:solidFill>
                  <a:srgbClr val="1A1F2E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44" type="pic" sz="quarter"/>
          </p:nvPr>
        </p:nvSpPr>
        <p:spPr>
          <a:xfrm rot="0" flipH="false" flipV="false">
            <a:off x="5183188" y="987425"/>
            <a:ext cx="6172200" cy="48736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45" type="body" sz="quarter" hasCustomPrompt="true"/>
          </p:nvPr>
        </p:nvSpPr>
        <p:spPr>
          <a:xfrm rot="0" flipH="false" flipV="false">
            <a:off x="839788" y="2057400"/>
            <a:ext cx="3932237" cy="3811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1600" b="false" i="false" u="none" strike="noStrike" spc="0">
                <a:solidFill>
                  <a:srgbClr val="3C4858">
                    <a:alpha val="100000"/>
                  </a:srgbClr>
                </a:solidFill>
                <a:latin typeface="等线"/>
              </a:defRPr>
            </a:lvl1pPr>
          </a:lstStyle>
          <a:p>
            <a:pPr algn="l" indent="0">
              <a:lnSpc>
                <a:spcPct val="91666"/>
              </a:lnSpc>
              <a:spcBef>
                <a:spcPts val="1000"/>
              </a:spcBef>
            </a:pPr>
            <a:r>
              <a:rPr lang="en-US" b="false" i="false" strike="noStrike" u="none" sz="16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单击此处编辑母版文本样式</a:t>
            </a:r>
          </a:p>
        </p:txBody>
      </p:sp>
      <p:sp>
        <p:nvSpPr>
          <p:cNvPr name="AutoShape 5" id="5"/>
          <p:cNvSpPr/>
          <p:nvPr>
            <p:ph idx="46" type="body" sz="quarter" hasCustomPrompt="true"/>
          </p:nvPr>
        </p:nvSpPr>
        <p:spPr>
          <a:xfrm rot="0" flipH="false" flipV="false"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78797C">
                    <a:alpha val="100000"/>
                  </a:srgbClr>
                </a:solidFill>
                <a:latin typeface="等线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78797C"/>
                </a:solidFill>
                <a:latin typeface="等线"/>
                <a:ea typeface="等线"/>
                <a:cs typeface="等线"/>
                <a:sym typeface="等线"/>
              </a:rPr>
              <a:t>2026/4/21</a:t>
            </a:r>
          </a:p>
        </p:txBody>
      </p:sp>
      <p:sp>
        <p:nvSpPr>
          <p:cNvPr name="AutoShape 6" id="6"/>
          <p:cNvSpPr/>
          <p:nvPr>
            <p:ph idx="47" type="body" sz="quarter" hasCustomPrompt="true"/>
          </p:nvPr>
        </p:nvSpPr>
        <p:spPr>
          <a:xfrm rot="0" flipH="false" flipV="false"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78797C"/>
                </a:solidFill>
                <a:latin typeface="等线"/>
                <a:ea typeface="等线"/>
                <a:cs typeface="等线"/>
                <a:sym typeface="等线"/>
              </a:rPr>
              <a:t>页脚</a:t>
            </a:r>
          </a:p>
        </p:txBody>
      </p:sp>
      <p:sp>
        <p:nvSpPr>
          <p:cNvPr name="AutoShape 7" id="7"/>
          <p:cNvSpPr/>
          <p:nvPr>
            <p:ph idx="48" type="body" sz="quarter" hasCustomPrompt="true"/>
          </p:nvPr>
        </p:nvSpPr>
        <p:spPr>
          <a:xfrm rot="0" flipH="false" flipV="false"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200" b="false" i="false" u="none" strike="noStrike" spc="0">
                <a:solidFill>
                  <a:srgbClr val="78797C">
                    <a:alpha val="100000"/>
                  </a:srgbClr>
                </a:solidFill>
                <a:latin typeface="等线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78797C"/>
                </a:solidFill>
                <a:latin typeface="等线"/>
                <a:ea typeface="等线"/>
                <a:cs typeface="等线"/>
                <a:sym typeface="等线"/>
              </a:rPr>
              <a:t>‹#›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9" type="body" sz="quarter" hasCustomPrompt="true"/>
          </p:nvPr>
        </p:nvSpPr>
        <p:spPr>
          <a:xfrm rot="0" flipH="false" flipV="false"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l">
              <a:lnSpc>
                <a:spcPct val="91666"/>
              </a:lnSpc>
              <a:defRPr sz="4400" b="false" i="false" u="none" strike="noStrike" spc="0">
                <a:solidFill>
                  <a:srgbClr val="1A1F2E">
                    <a:alpha val="100000"/>
                  </a:srgbClr>
                </a:solidFill>
                <a:latin typeface="等线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1A1F2E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50" type="body" sz="quarter" hasCustomPrompt="true"/>
          </p:nvPr>
        </p:nvSpPr>
        <p:spPr>
          <a:xfrm rot="0" flipH="false" flipV="false">
            <a:off x="838200" y="1825625"/>
            <a:ext cx="10515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eaVert" wrap="square" lIns="91440" rIns="91440" tIns="45720" bIns="45720">
            <a:normAutofit lnSpcReduction="0"/>
          </a:bodyPr>
          <a:lstStyle>
            <a:lvl1pPr algn="l">
              <a:lnSpc>
                <a:spcPct val="91666"/>
              </a:lnSpc>
              <a:defRPr sz="2800" b="false" i="false" u="none" strike="noStrike" spc="0">
                <a:solidFill>
                  <a:srgbClr val="3C4858">
                    <a:alpha val="100000"/>
                  </a:srgbClr>
                </a:solidFill>
                <a:latin typeface="等线"/>
              </a:defRPr>
            </a:lvl1pPr>
          </a:lstStyle>
          <a:p>
            <a:pPr algn="l" indent="-355600" marL="355600">
              <a:lnSpc>
                <a:spcPct val="91666"/>
              </a:lnSpc>
              <a:spcBef>
                <a:spcPts val="1000"/>
              </a:spcBef>
              <a:buClr>
                <a:srgbClr val="3C4858"/>
              </a:buClr>
              <a:buChar char="•"/>
            </a:pPr>
            <a:r>
              <a:rPr lang="en-US" b="false" i="false" strike="noStrike" u="none" sz="28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单击此处编辑母版文本样式</a:t>
            </a:r>
          </a:p>
          <a:p>
            <a:pPr algn="l" indent="-304800" lvl="1" marL="762000">
              <a:lnSpc>
                <a:spcPct val="91666"/>
              </a:lnSpc>
              <a:spcBef>
                <a:spcPts val="500"/>
              </a:spcBef>
              <a:buClr>
                <a:srgbClr val="1A1F2E"/>
              </a:buClr>
              <a:buChar char="•"/>
            </a:pPr>
            <a:r>
              <a:rPr lang="en-US" b="false" i="false" strike="noStrike" u="none" sz="24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二级</a:t>
            </a:r>
          </a:p>
          <a:p>
            <a:pPr algn="l" indent="-254000" lvl="2" marL="1168400">
              <a:lnSpc>
                <a:spcPct val="91666"/>
              </a:lnSpc>
              <a:spcBef>
                <a:spcPts val="500"/>
              </a:spcBef>
              <a:buClr>
                <a:srgbClr val="1A1F2E"/>
              </a:buClr>
              <a:buChar char="•"/>
            </a:pPr>
            <a:r>
              <a:rPr lang="en-US" b="false" i="false" strike="noStrike" u="none" sz="20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三级</a:t>
            </a:r>
          </a:p>
          <a:p>
            <a:pPr algn="l" indent="-228600" lvl="3" marL="1600200">
              <a:lnSpc>
                <a:spcPct val="91666"/>
              </a:lnSpc>
              <a:spcBef>
                <a:spcPts val="500"/>
              </a:spcBef>
              <a:buClr>
                <a:srgbClr val="1A1F2E"/>
              </a:buClr>
              <a:buChar char="•"/>
            </a:pPr>
            <a:r>
              <a:rPr lang="en-US" b="false" i="false" strike="noStrike" u="none" sz="18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四级</a:t>
            </a:r>
          </a:p>
          <a:p>
            <a:pPr algn="l" indent="-228600" lvl="4" marL="2057400">
              <a:lnSpc>
                <a:spcPct val="91666"/>
              </a:lnSpc>
              <a:spcBef>
                <a:spcPts val="500"/>
              </a:spcBef>
              <a:buClr>
                <a:srgbClr val="1A1F2E"/>
              </a:buClr>
              <a:buChar char="•"/>
            </a:pPr>
            <a:r>
              <a:rPr lang="en-US" b="false" i="false" strike="noStrike" u="none" sz="18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五级</a:t>
            </a:r>
          </a:p>
        </p:txBody>
      </p:sp>
      <p:sp>
        <p:nvSpPr>
          <p:cNvPr name="AutoShape 4" id="4"/>
          <p:cNvSpPr/>
          <p:nvPr>
            <p:ph idx="51" type="body" sz="quarter" hasCustomPrompt="true"/>
          </p:nvPr>
        </p:nvSpPr>
        <p:spPr>
          <a:xfrm rot="0" flipH="false" flipV="false"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78797C">
                    <a:alpha val="100000"/>
                  </a:srgbClr>
                </a:solidFill>
                <a:latin typeface="等线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78797C"/>
                </a:solidFill>
                <a:latin typeface="等线"/>
                <a:ea typeface="等线"/>
                <a:cs typeface="等线"/>
                <a:sym typeface="等线"/>
              </a:rPr>
              <a:t>2026/4/21</a:t>
            </a:r>
          </a:p>
        </p:txBody>
      </p:sp>
      <p:sp>
        <p:nvSpPr>
          <p:cNvPr name="AutoShape 5" id="5"/>
          <p:cNvSpPr/>
          <p:nvPr>
            <p:ph idx="52" type="body" sz="quarter" hasCustomPrompt="true"/>
          </p:nvPr>
        </p:nvSpPr>
        <p:spPr>
          <a:xfrm rot="0" flipH="false" flipV="false"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78797C"/>
                </a:solidFill>
                <a:latin typeface="等线"/>
                <a:ea typeface="等线"/>
                <a:cs typeface="等线"/>
                <a:sym typeface="等线"/>
              </a:rPr>
              <a:t>页脚</a:t>
            </a:r>
          </a:p>
        </p:txBody>
      </p:sp>
      <p:sp>
        <p:nvSpPr>
          <p:cNvPr name="AutoShape 6" id="6"/>
          <p:cNvSpPr/>
          <p:nvPr>
            <p:ph idx="53" type="body" sz="quarter" hasCustomPrompt="true"/>
          </p:nvPr>
        </p:nvSpPr>
        <p:spPr>
          <a:xfrm rot="0" flipH="false" flipV="false"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200" b="false" i="false" u="none" strike="noStrike" spc="0">
                <a:solidFill>
                  <a:srgbClr val="78797C">
                    <a:alpha val="100000"/>
                  </a:srgbClr>
                </a:solidFill>
                <a:latin typeface="等线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78797C"/>
                </a:solidFill>
                <a:latin typeface="等线"/>
                <a:ea typeface="等线"/>
                <a:cs typeface="等线"/>
                <a:sym typeface="等线"/>
              </a:rPr>
              <a:t>‹#›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4" type="body" sz="quarter" hasCustomPrompt="true"/>
          </p:nvPr>
        </p:nvSpPr>
        <p:spPr>
          <a:xfrm rot="0" flipH="false" flipV="false">
            <a:off x="8724900" y="365125"/>
            <a:ext cx="2628900" cy="58118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eaVert" wrap="square" lIns="91440" rIns="91440" tIns="45720" bIns="45720">
            <a:normAutofit lnSpcReduction="0"/>
          </a:bodyPr>
          <a:lstStyle>
            <a:lvl1pPr algn="l">
              <a:lnSpc>
                <a:spcPct val="91666"/>
              </a:lnSpc>
              <a:defRPr sz="4400" b="false" i="false" u="none" strike="noStrike" spc="0">
                <a:solidFill>
                  <a:srgbClr val="1A1F2E">
                    <a:alpha val="100000"/>
                  </a:srgbClr>
                </a:solidFill>
                <a:latin typeface="等线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1A1F2E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55" type="body" sz="quarter" hasCustomPrompt="true"/>
          </p:nvPr>
        </p:nvSpPr>
        <p:spPr>
          <a:xfrm rot="0" flipH="false" flipV="false">
            <a:off x="838200" y="365125"/>
            <a:ext cx="7734300" cy="58118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eaVert" wrap="square" lIns="91440" rIns="91440" tIns="45720" bIns="45720">
            <a:normAutofit lnSpcReduction="0"/>
          </a:bodyPr>
          <a:lstStyle>
            <a:lvl1pPr algn="l">
              <a:lnSpc>
                <a:spcPct val="91666"/>
              </a:lnSpc>
              <a:defRPr sz="2800" b="false" i="false" u="none" strike="noStrike" spc="0">
                <a:solidFill>
                  <a:srgbClr val="3C4858">
                    <a:alpha val="100000"/>
                  </a:srgbClr>
                </a:solidFill>
                <a:latin typeface="等线"/>
              </a:defRPr>
            </a:lvl1pPr>
          </a:lstStyle>
          <a:p>
            <a:pPr algn="l" indent="-355600" marL="355600">
              <a:lnSpc>
                <a:spcPct val="91666"/>
              </a:lnSpc>
              <a:spcBef>
                <a:spcPts val="1000"/>
              </a:spcBef>
              <a:buClr>
                <a:srgbClr val="3C4858"/>
              </a:buClr>
              <a:buChar char="•"/>
            </a:pPr>
            <a:r>
              <a:rPr lang="en-US" b="false" i="false" strike="noStrike" u="none" sz="28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单击此处编辑母版文本样式</a:t>
            </a:r>
          </a:p>
          <a:p>
            <a:pPr algn="l" indent="-304800" lvl="1" marL="762000">
              <a:lnSpc>
                <a:spcPct val="91666"/>
              </a:lnSpc>
              <a:spcBef>
                <a:spcPts val="500"/>
              </a:spcBef>
              <a:buClr>
                <a:srgbClr val="1A1F2E"/>
              </a:buClr>
              <a:buChar char="•"/>
            </a:pPr>
            <a:r>
              <a:rPr lang="en-US" b="false" i="false" strike="noStrike" u="none" sz="24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二级</a:t>
            </a:r>
          </a:p>
          <a:p>
            <a:pPr algn="l" indent="-254000" lvl="2" marL="1168400">
              <a:lnSpc>
                <a:spcPct val="91666"/>
              </a:lnSpc>
              <a:spcBef>
                <a:spcPts val="500"/>
              </a:spcBef>
              <a:buClr>
                <a:srgbClr val="1A1F2E"/>
              </a:buClr>
              <a:buChar char="•"/>
            </a:pPr>
            <a:r>
              <a:rPr lang="en-US" b="false" i="false" strike="noStrike" u="none" sz="20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三级</a:t>
            </a:r>
          </a:p>
          <a:p>
            <a:pPr algn="l" indent="-228600" lvl="3" marL="1600200">
              <a:lnSpc>
                <a:spcPct val="91666"/>
              </a:lnSpc>
              <a:spcBef>
                <a:spcPts val="500"/>
              </a:spcBef>
              <a:buClr>
                <a:srgbClr val="1A1F2E"/>
              </a:buClr>
              <a:buChar char="•"/>
            </a:pPr>
            <a:r>
              <a:rPr lang="en-US" b="false" i="false" strike="noStrike" u="none" sz="18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四级</a:t>
            </a:r>
          </a:p>
          <a:p>
            <a:pPr algn="l" indent="-228600" lvl="4" marL="2057400">
              <a:lnSpc>
                <a:spcPct val="91666"/>
              </a:lnSpc>
              <a:spcBef>
                <a:spcPts val="500"/>
              </a:spcBef>
              <a:buClr>
                <a:srgbClr val="1A1F2E"/>
              </a:buClr>
              <a:buChar char="•"/>
            </a:pPr>
            <a:r>
              <a:rPr lang="en-US" b="false" i="false" strike="noStrike" u="none" sz="18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五级</a:t>
            </a:r>
          </a:p>
        </p:txBody>
      </p:sp>
      <p:sp>
        <p:nvSpPr>
          <p:cNvPr name="AutoShape 4" id="4"/>
          <p:cNvSpPr/>
          <p:nvPr>
            <p:ph idx="56" type="body" sz="quarter" hasCustomPrompt="true"/>
          </p:nvPr>
        </p:nvSpPr>
        <p:spPr>
          <a:xfrm rot="0" flipH="false" flipV="false"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78797C">
                    <a:alpha val="100000"/>
                  </a:srgbClr>
                </a:solidFill>
                <a:latin typeface="等线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78797C"/>
                </a:solidFill>
                <a:latin typeface="等线"/>
                <a:ea typeface="等线"/>
                <a:cs typeface="等线"/>
                <a:sym typeface="等线"/>
              </a:rPr>
              <a:t>2026/4/21</a:t>
            </a:r>
          </a:p>
        </p:txBody>
      </p:sp>
      <p:sp>
        <p:nvSpPr>
          <p:cNvPr name="AutoShape 5" id="5"/>
          <p:cNvSpPr/>
          <p:nvPr>
            <p:ph idx="57" type="body" sz="quarter" hasCustomPrompt="true"/>
          </p:nvPr>
        </p:nvSpPr>
        <p:spPr>
          <a:xfrm rot="0" flipH="false" flipV="false"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78797C"/>
                </a:solidFill>
                <a:latin typeface="等线"/>
                <a:ea typeface="等线"/>
                <a:cs typeface="等线"/>
                <a:sym typeface="等线"/>
              </a:rPr>
              <a:t>页脚</a:t>
            </a:r>
          </a:p>
        </p:txBody>
      </p:sp>
      <p:sp>
        <p:nvSpPr>
          <p:cNvPr name="AutoShape 6" id="6"/>
          <p:cNvSpPr/>
          <p:nvPr>
            <p:ph idx="58" type="body" sz="quarter" hasCustomPrompt="true"/>
          </p:nvPr>
        </p:nvSpPr>
        <p:spPr>
          <a:xfrm rot="0" flipH="false" flipV="false"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200" b="false" i="false" u="none" strike="noStrike" spc="0">
                <a:solidFill>
                  <a:srgbClr val="78797C">
                    <a:alpha val="100000"/>
                  </a:srgbClr>
                </a:solidFill>
                <a:latin typeface="等线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78797C"/>
                </a:solidFill>
                <a:latin typeface="等线"/>
                <a:ea typeface="等线"/>
                <a:cs typeface="等线"/>
                <a:sym typeface="等线"/>
              </a:rPr>
              <a:t>‹#›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10" Target="../slideLayouts/slideLayout20.xml" Type="http://schemas.openxmlformats.org/officeDocument/2006/relationships/slideLayout"/><Relationship Id="rId11" Target="../slideLayouts/slideLayout21.xml" Type="http://schemas.openxmlformats.org/officeDocument/2006/relationships/slideLayout"/><Relationship Id="rId2" Target="../slideLayouts/slideLayout12.xml" Type="http://schemas.openxmlformats.org/officeDocument/2006/relationships/slideLayout"/><Relationship Id="rId3" Target="../slideLayouts/slideLayout13.xml" Type="http://schemas.openxmlformats.org/officeDocument/2006/relationships/slideLayout"/><Relationship Id="rId4" Target="../slideLayouts/slideLayout14.xml" Type="http://schemas.openxmlformats.org/officeDocument/2006/relationships/slideLayout"/><Relationship Id="rId5" Target="../slideLayouts/slideLayout15.xml" Type="http://schemas.openxmlformats.org/officeDocument/2006/relationships/slideLayout"/><Relationship Id="rId6" Target="../slideLayouts/slideLayout16.xml" Type="http://schemas.openxmlformats.org/officeDocument/2006/relationships/slideLayout"/><Relationship Id="rId7" Target="../slideLayouts/slideLayout17.xml" Type="http://schemas.openxmlformats.org/officeDocument/2006/relationships/slideLayout"/><Relationship Id="rId8" Target="../slideLayouts/slideLayout18.xml" Type="http://schemas.openxmlformats.org/officeDocument/2006/relationships/slideLayout"/><Relationship Id="rId9" Target="../slideLayouts/slideLayout1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Office 主题​​ [1776684307308]">
    <p:bg>
      <p:bgPr>
        <a:gradFill rotWithShape="true">
          <a:gsLst>
            <a:gs pos="0">
              <a:srgbClr val="EEF3FB">
                <a:alpha val="100000"/>
              </a:srgbClr>
            </a:gs>
            <a:gs pos="50000">
              <a:srgbClr val="F6F8FC">
                <a:alpha val="100000"/>
              </a:srgbClr>
            </a:gs>
            <a:gs pos="100000">
              <a:srgbClr val="FBFAF7">
                <a:alpha val="100000"/>
              </a:srgbClr>
            </a:gs>
          </a:gsLst>
          <a:lin ang="270000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  <p:sldLayoutId id="2157483700" r:id="rId3"/>
    <p:sldLayoutId id="2157483701" r:id="rId4"/>
    <p:sldLayoutId id="2157483702" r:id="rId5"/>
    <p:sldLayoutId id="2157483703" r:id="rId6"/>
    <p:sldLayoutId id="2157483704" r:id="rId7"/>
    <p:sldLayoutId id="2157483705" r:id="rId8"/>
    <p:sldLayoutId id="2157483706" r:id="rId9"/>
    <p:sldLayoutId id="2157483707" r:id="rId10"/>
    <p:sldLayoutId id="215748370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2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23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24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1143000"/>
            <a:ext cx="609600" cy="508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371600"/>
            <a:ext cx="76200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飞书 AI 校园挑战赛 · 开营分享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349500"/>
            <a:ext cx="10414000" cy="95410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56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飞书 AI-friendly 分享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3619500"/>
            <a:ext cx="10414000" cy="5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不只是在飞书里使用 AI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4127500"/>
            <a:ext cx="10414000" cy="4616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而是让 AI 更好地使用飞书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5334000"/>
            <a:ext cx="10414000" cy="12700"/>
          </a:xfrm>
          <a:prstGeom prst="rect">
            <a:avLst/>
          </a:prstGeom>
          <a:solidFill>
            <a:srgbClr val="D6DDE8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414000" y="5524500"/>
            <a:ext cx="1016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non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8B97AD"/>
                </a:solidFill>
                <a:latin typeface="等线"/>
                <a:ea typeface="等线"/>
                <a:cs typeface="等线"/>
                <a:sym typeface="等线"/>
              </a:rPr>
              <a:t>01 / 24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969000" y="1778000"/>
            <a:ext cx="5461000" cy="3683000"/>
          </a:xfrm>
          <a:prstGeom prst="roundRect">
            <a:avLst>
              <a:gd name="adj" fmla="val 16667"/>
            </a:avLst>
          </a:prstGeom>
          <a:solidFill>
            <a:srgbClr val="EEF3FB">
              <a:alpha val="100000"/>
            </a:srgbClr>
          </a:solidFill>
          <a:ln w="12700" cmpd="sng" cap="flat">
            <a:solidFill>
              <a:srgbClr val="3370FF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4953000" cy="3683000"/>
          </a:xfrm>
          <a:prstGeom prst="roundRect">
            <a:avLst>
              <a:gd name="adj" fmla="val 1666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406400" cy="381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787400"/>
            <a:ext cx="5080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自我介绍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66800" y="2082800"/>
            <a:ext cx="1524000" cy="6858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1066800" y="2921000"/>
            <a:ext cx="43180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黄梦轩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66800" y="3581400"/>
            <a:ext cx="4318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飞书 · 研发工程师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66800" y="3873500"/>
            <a:ext cx="4318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Lark App-Core Services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66800" y="4343400"/>
            <a:ext cx="508000" cy="12700"/>
          </a:xfrm>
          <a:prstGeom prst="rect">
            <a:avLst/>
          </a:prstGeom>
          <a:solidFill>
            <a:srgbClr val="DDE4EE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66800" y="4521200"/>
            <a:ext cx="4318000" cy="59195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大三开始在飞书实习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校招加入飞书至今,约 6 年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73800" y="2184400"/>
            <a:ext cx="177800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当前负责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73800" y="2540000"/>
            <a:ext cx="4953000" cy="5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6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飞书面向 AI 的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73800" y="3022600"/>
            <a:ext cx="4953000" cy="5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6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开放性友好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73800" y="3911600"/>
            <a:ext cx="76200" cy="76200"/>
          </a:xfrm>
          <a:prstGeom prst="ellipse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51600" y="3810000"/>
            <a:ext cx="4826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飞书 MCP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73800" y="4241800"/>
            <a:ext cx="76200" cy="76200"/>
          </a:xfrm>
          <a:prstGeom prst="ellipse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451600" y="4140200"/>
            <a:ext cx="4826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飞书 CLI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273800" y="4572000"/>
            <a:ext cx="76200" cy="76200"/>
          </a:xfrm>
          <a:prstGeom prst="ellipse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51600" y="4470400"/>
            <a:ext cx="4826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与 OpenClaw、Hermes 等 Agent 集成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5740400"/>
            <a:ext cx="381000" cy="254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905500"/>
            <a:ext cx="10668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true" strike="noStrike" u="none" sz="12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今天分享的,就是最近团队在做的事。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0922000" y="787400"/>
            <a:ext cx="762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8B97AD"/>
                </a:solidFill>
                <a:latin typeface="等线"/>
                <a:ea typeface="等线"/>
                <a:cs typeface="等线"/>
                <a:sym typeface="等线"/>
              </a:rPr>
              <a:t>02 / 24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406400" cy="381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87400"/>
            <a:ext cx="5080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02 · 先把问题讲清楚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922000" y="787400"/>
            <a:ext cx="762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8B97AD"/>
                </a:solidFill>
                <a:latin typeface="等线"/>
                <a:ea typeface="等线"/>
                <a:cs typeface="等线"/>
                <a:sym typeface="等线"/>
              </a:rPr>
              <a:t>03 / 24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33500"/>
            <a:ext cx="10668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34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为什么飞书不只是在做"飞书里的 AI"？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667000"/>
            <a:ext cx="5016500" cy="2159000"/>
          </a:xfrm>
          <a:prstGeom prst="roundRect">
            <a:avLst>
              <a:gd name="adj" fmla="val 1666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41400" y="2895600"/>
            <a:ext cx="2540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8B97AD"/>
                </a:solidFill>
                <a:latin typeface="等线"/>
                <a:ea typeface="等线"/>
                <a:cs typeface="等线"/>
                <a:sym typeface="等线"/>
              </a:rPr>
              <a:t>A · 现有视角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41400" y="3276600"/>
            <a:ext cx="4508500" cy="55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6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在飞书里使用 AI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41400" y="3937000"/>
            <a:ext cx="4508500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在飞书里多了一个 AI 聊天入口，本质上还是加功能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778500" y="3556000"/>
            <a:ext cx="635000" cy="5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28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→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13500" y="2667000"/>
            <a:ext cx="5016500" cy="2159000"/>
          </a:xfrm>
          <a:prstGeom prst="roundRect">
            <a:avLst>
              <a:gd name="adj" fmla="val 1666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13500" y="2667000"/>
            <a:ext cx="50800" cy="21590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692900" y="2895600"/>
            <a:ext cx="3810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B · 本次真正要讨论的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692900" y="3276600"/>
            <a:ext cx="4572000" cy="55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6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让 AI 更好地使用飞书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692900" y="3937000"/>
            <a:ext cx="4572000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让 AI 能理解飞书、调用飞书能力、真的参与协作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334000"/>
            <a:ext cx="381000" cy="254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5524500"/>
            <a:ext cx="10668000" cy="5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true" strike="noStrike" u="none" sz="12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这场分享真正要讨论的，不只是"飞书里的 AI"，而是"AI 如何更好地使用飞书"。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406400" cy="381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87400"/>
            <a:ext cx="5080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03 · 给出判断标准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922000" y="787400"/>
            <a:ext cx="762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8B97AD"/>
                </a:solidFill>
                <a:latin typeface="等线"/>
                <a:ea typeface="等线"/>
                <a:cs typeface="等线"/>
                <a:sym typeface="等线"/>
              </a:rPr>
              <a:t>04 / 24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33500"/>
            <a:ext cx="10668000" cy="615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34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什么叫 AI-friendly？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222500"/>
            <a:ext cx="10668000" cy="762000"/>
          </a:xfrm>
          <a:prstGeom prst="roundRect">
            <a:avLst>
              <a:gd name="adj" fmla="val 1666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41400" y="2374900"/>
            <a:ext cx="76200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non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定义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41400" y="2616200"/>
            <a:ext cx="10160000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AI-friendly = 让 Agent 更容易发现、理解、调用、组合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365500"/>
            <a:ext cx="2540000" cy="1968500"/>
          </a:xfrm>
          <a:prstGeom prst="roundRect">
            <a:avLst>
              <a:gd name="adj" fmla="val 1666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365500"/>
            <a:ext cx="2540000" cy="381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3619500"/>
            <a:ext cx="508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non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01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3937000"/>
            <a:ext cx="2032000" cy="482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可发现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4508500"/>
            <a:ext cx="2032000" cy="635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Agent 能知道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系统里有哪些能力可用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429000" y="3365500"/>
            <a:ext cx="2540000" cy="1968500"/>
          </a:xfrm>
          <a:prstGeom prst="roundRect">
            <a:avLst>
              <a:gd name="adj" fmla="val 1666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429000" y="3365500"/>
            <a:ext cx="2540000" cy="38100"/>
          </a:xfrm>
          <a:prstGeom prst="rect">
            <a:avLst/>
          </a:prstGeom>
          <a:solidFill>
            <a:srgbClr val="00B8D9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683000" y="3619500"/>
            <a:ext cx="508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non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00B8D9"/>
                </a:solidFill>
                <a:latin typeface="等线"/>
                <a:ea typeface="等线"/>
                <a:cs typeface="等线"/>
                <a:sym typeface="等线"/>
              </a:rPr>
              <a:t>02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3683000" y="3937000"/>
            <a:ext cx="2032000" cy="482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可理解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3683000" y="4508500"/>
            <a:ext cx="2032000" cy="635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Agent 能看懂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能力的语义和参数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096000" y="3365500"/>
            <a:ext cx="2540000" cy="1968500"/>
          </a:xfrm>
          <a:prstGeom prst="roundRect">
            <a:avLst>
              <a:gd name="adj" fmla="val 1666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096000" y="3365500"/>
            <a:ext cx="2540000" cy="38100"/>
          </a:xfrm>
          <a:prstGeom prst="rect">
            <a:avLst/>
          </a:prstGeom>
          <a:solidFill>
            <a:srgbClr val="7C5C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350000" y="3619500"/>
            <a:ext cx="508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non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7C5CFF"/>
                </a:solidFill>
                <a:latin typeface="等线"/>
                <a:ea typeface="等线"/>
                <a:cs typeface="等线"/>
                <a:sym typeface="等线"/>
              </a:rPr>
              <a:t>03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350000" y="3937000"/>
            <a:ext cx="2032000" cy="482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可执行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350000" y="4508500"/>
            <a:ext cx="2032000" cy="635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Agent 能稳定调用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少踩坑、少重试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763000" y="3365500"/>
            <a:ext cx="2540000" cy="1968500"/>
          </a:xfrm>
          <a:prstGeom prst="roundRect">
            <a:avLst>
              <a:gd name="adj" fmla="val 1666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763000" y="3365500"/>
            <a:ext cx="2540000" cy="38100"/>
          </a:xfrm>
          <a:prstGeom prst="rect">
            <a:avLst/>
          </a:prstGeom>
          <a:solidFill>
            <a:srgbClr val="00B386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9017000" y="3619500"/>
            <a:ext cx="508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non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00B386"/>
                </a:solidFill>
                <a:latin typeface="等线"/>
                <a:ea typeface="等线"/>
                <a:cs typeface="等线"/>
                <a:sym typeface="等线"/>
              </a:rPr>
              <a:t>04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9017000" y="3937000"/>
            <a:ext cx="2032000" cy="482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可编排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9017000" y="4508500"/>
            <a:ext cx="2032000" cy="635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Agent 能把多个能力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串成完整流程</a:t>
            </a:r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62000" y="5651500"/>
            <a:ext cx="381000" cy="254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62000" y="5842000"/>
            <a:ext cx="106680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true" strike="noStrike" u="none" sz="12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不是多一个 AI 按钮，而是一整套面向 Agent 的系统设计。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762000" y="2222500"/>
            <a:ext cx="50800" cy="7620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2349500"/>
            <a:ext cx="4064000" cy="2286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8400">
                <a:solidFill>
                  <a:srgbClr val="E2E9F5"/>
                </a:solidFill>
                <a:latin typeface="等线"/>
                <a:ea typeface="等线"/>
                <a:cs typeface="等线"/>
                <a:sym typeface="等线"/>
              </a:rPr>
              <a:t>PART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8400">
                <a:solidFill>
                  <a:srgbClr val="E2E9F5"/>
                </a:solidFill>
                <a:latin typeface="等线"/>
                <a:ea typeface="等线"/>
                <a:cs typeface="等线"/>
                <a:sym typeface="等线"/>
              </a:rPr>
              <a:t>01</a:t>
            </a:r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930400"/>
            <a:ext cx="508000" cy="381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57400"/>
            <a:ext cx="508000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第 1 章 · 接下来聊聊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3149600"/>
            <a:ext cx="10668000" cy="812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48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先从 MCP 说起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4089400"/>
            <a:ext cx="106680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大家都在讲的 MCP——它到底解决了什么？又留下了什么？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6223000"/>
            <a:ext cx="762000" cy="12700"/>
          </a:xfrm>
          <a:prstGeom prst="rect">
            <a:avLst/>
          </a:prstGeom>
          <a:solidFill>
            <a:srgbClr val="D0DBEE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6350000"/>
            <a:ext cx="1066800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8B97AD"/>
                </a:solidFill>
                <a:latin typeface="等线"/>
                <a:ea typeface="等线"/>
                <a:cs typeface="等线"/>
                <a:sym typeface="等线"/>
              </a:rPr>
              <a:t>飞书 AI-friendly 分享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406400" cy="381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87400"/>
            <a:ext cx="5080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04 · MCP 为什么重要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922000" y="787400"/>
            <a:ext cx="762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8B97AD"/>
                </a:solidFill>
                <a:latin typeface="等线"/>
                <a:ea typeface="等线"/>
                <a:cs typeface="等线"/>
                <a:sym typeface="等线"/>
              </a:rPr>
              <a:t>06 / 24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33500"/>
            <a:ext cx="10668000" cy="615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34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MCP：为什么大家都在讲它？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476500"/>
            <a:ext cx="5016500" cy="2603500"/>
          </a:xfrm>
          <a:prstGeom prst="roundRect">
            <a:avLst>
              <a:gd name="adj" fmla="val 1666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41400" y="2730500"/>
            <a:ext cx="1270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8B97AD"/>
                </a:solidFill>
                <a:latin typeface="等线"/>
                <a:ea typeface="等线"/>
                <a:cs typeface="等线"/>
                <a:sym typeface="等线"/>
              </a:rPr>
              <a:t>过去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41400" y="3048000"/>
            <a:ext cx="450850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每个工具各有各的接法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41400" y="4508500"/>
            <a:ext cx="45085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true" strike="noStrike" u="none" sz="12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模型要为每个工具做一次自定义接入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413500" y="2476500"/>
            <a:ext cx="5016500" cy="2603500"/>
          </a:xfrm>
          <a:prstGeom prst="roundRect">
            <a:avLst>
              <a:gd name="adj" fmla="val 1666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13500" y="2476500"/>
            <a:ext cx="50800" cy="26035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692900" y="2730500"/>
            <a:ext cx="1270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现在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692900" y="3048000"/>
            <a:ext cx="457200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MCP 提供更统一的工具接法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692900" y="4508500"/>
            <a:ext cx="45720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true" strike="noStrike" u="none" sz="12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就像 Agent 世界里的"通用插座"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5461000"/>
            <a:ext cx="381000" cy="254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651500"/>
            <a:ext cx="10668000" cy="33855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true" strike="noStrike" u="none" sz="12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MCP 是第一个专为 AI Agent 设计、并被广泛采纳的工具接入标准。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79500" y="3810000"/>
            <a:ext cx="711200" cy="558800"/>
          </a:xfrm>
          <a:prstGeom prst="ellipse">
            <a:avLst/>
          </a:prstGeom>
          <a:solidFill>
            <a:srgbClr val="EEF3FB">
              <a:alpha val="100000"/>
            </a:srgbClr>
          </a:solidFill>
          <a:ln w="12700" cmpd="sng" cap="flat">
            <a:solidFill>
              <a:srgbClr val="3370FF">
                <a:alpha val="100000"/>
              </a:srgbClr>
            </a:solidFill>
            <a:prstDash val="solid"/>
            <a:miter lim="8000000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LLM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445000" y="3429000"/>
            <a:ext cx="914400" cy="2794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8B97AD">
                <a:alpha val="100000"/>
              </a:srgbClr>
            </a:solidFill>
            <a:prstDash val="solid"/>
            <a:miter lim="8000000"/>
          </a:ln>
        </p:spPr>
        <p:txBody>
          <a:bodyPr anchor="ctr" rtlCol="false" wrap="non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工具 A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445000" y="3810000"/>
            <a:ext cx="914400" cy="2794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8B97AD">
                <a:alpha val="100000"/>
              </a:srgbClr>
            </a:solidFill>
            <a:prstDash val="solid"/>
            <a:miter lim="8000000"/>
          </a:ln>
        </p:spPr>
        <p:txBody>
          <a:bodyPr anchor="ctr" rtlCol="false" wrap="non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工具 B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445000" y="4191000"/>
            <a:ext cx="914400" cy="2794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8B97AD">
                <a:alpha val="100000"/>
              </a:srgbClr>
            </a:solidFill>
            <a:prstDash val="solid"/>
            <a:miter lim="8000000"/>
          </a:ln>
        </p:spPr>
        <p:txBody>
          <a:bodyPr anchor="ctr" rtlCol="false" wrap="non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工具 C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445000" y="4572000"/>
            <a:ext cx="914400" cy="2794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8B97AD">
                <a:alpha val="100000"/>
              </a:srgbClr>
            </a:solidFill>
            <a:prstDash val="solid"/>
            <a:miter lim="8000000"/>
          </a:ln>
        </p:spPr>
        <p:txBody>
          <a:bodyPr anchor="ctr" rtlCol="false" wrap="non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工具 D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731000" y="3810000"/>
            <a:ext cx="711200" cy="558800"/>
          </a:xfrm>
          <a:prstGeom prst="ellipse">
            <a:avLst/>
          </a:prstGeom>
          <a:solidFill>
            <a:srgbClr val="EEF3FB">
              <a:alpha val="100000"/>
            </a:srgbClr>
          </a:solidFill>
          <a:ln w="12700" cmpd="sng" cap="flat">
            <a:solidFill>
              <a:srgbClr val="3370FF">
                <a:alpha val="100000"/>
              </a:srgbClr>
            </a:solidFill>
            <a:prstDash val="solid"/>
            <a:miter lim="8000000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LLM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509000" y="3860800"/>
            <a:ext cx="889000" cy="457200"/>
          </a:xfrm>
          <a:prstGeom prst="roundRect">
            <a:avLst>
              <a:gd name="adj" fmla="val 16667"/>
            </a:avLst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MCP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0160000" y="3429000"/>
            <a:ext cx="914400" cy="2794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8B97AD">
                <a:alpha val="100000"/>
              </a:srgbClr>
            </a:solidFill>
            <a:prstDash val="solid"/>
            <a:miter lim="8000000"/>
          </a:ln>
        </p:spPr>
        <p:txBody>
          <a:bodyPr anchor="ctr" rtlCol="false" wrap="non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工具 A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10160000" y="3810000"/>
            <a:ext cx="914400" cy="2794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8B97AD">
                <a:alpha val="100000"/>
              </a:srgbClr>
            </a:solidFill>
            <a:prstDash val="solid"/>
            <a:miter lim="8000000"/>
          </a:ln>
        </p:spPr>
        <p:txBody>
          <a:bodyPr anchor="ctr" rtlCol="false" wrap="non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工具 B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10160000" y="4191000"/>
            <a:ext cx="914400" cy="2794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8B97AD">
                <a:alpha val="100000"/>
              </a:srgbClr>
            </a:solidFill>
            <a:prstDash val="solid"/>
            <a:miter lim="8000000"/>
          </a:ln>
        </p:spPr>
        <p:txBody>
          <a:bodyPr anchor="ctr" rtlCol="false" wrap="non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工具 C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0160000" y="4572000"/>
            <a:ext cx="914400" cy="2794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8B97AD">
                <a:alpha val="100000"/>
              </a:srgbClr>
            </a:solidFill>
            <a:prstDash val="solid"/>
            <a:miter lim="8000000"/>
          </a:ln>
        </p:spPr>
        <p:txBody>
          <a:bodyPr anchor="ctr" rtlCol="false" wrap="non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工具 D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3111500" y="3702050"/>
            <a:ext cx="1333500" cy="12700"/>
          </a:xfrm>
          <a:prstGeom prst="rect">
            <a:avLst/>
          </a:prstGeom>
          <a:solidFill>
            <a:srgbClr val="B8C3D4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3111500" y="4083050"/>
            <a:ext cx="1333500" cy="12700"/>
          </a:xfrm>
          <a:prstGeom prst="rect">
            <a:avLst/>
          </a:prstGeom>
          <a:solidFill>
            <a:srgbClr val="B8C3D4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3111500" y="4464050"/>
            <a:ext cx="1333500" cy="12700"/>
          </a:xfrm>
          <a:prstGeom prst="rect">
            <a:avLst/>
          </a:prstGeom>
          <a:solidFill>
            <a:srgbClr val="B8C3D4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3111500" y="4845050"/>
            <a:ext cx="1333500" cy="12700"/>
          </a:xfrm>
          <a:prstGeom prst="rect">
            <a:avLst/>
          </a:prstGeom>
          <a:solidFill>
            <a:srgbClr val="B8C3D4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1790700" y="4083050"/>
            <a:ext cx="1320800" cy="12700"/>
          </a:xfrm>
          <a:prstGeom prst="rect">
            <a:avLst/>
          </a:prstGeom>
          <a:solidFill>
            <a:srgbClr val="B8C3D4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3105150" y="3708400"/>
            <a:ext cx="12700" cy="1143000"/>
          </a:xfrm>
          <a:prstGeom prst="rect">
            <a:avLst/>
          </a:prstGeom>
          <a:solidFill>
            <a:srgbClr val="B8C3D4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7442200" y="4076700"/>
            <a:ext cx="1066800" cy="254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9398000" y="4076700"/>
            <a:ext cx="444500" cy="254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9829800" y="3708400"/>
            <a:ext cx="25400" cy="11430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9842500" y="3695700"/>
            <a:ext cx="317500" cy="254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9842500" y="4076700"/>
            <a:ext cx="317500" cy="254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9842500" y="4457700"/>
            <a:ext cx="317500" cy="254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9842500" y="4838700"/>
            <a:ext cx="317500" cy="254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406400" cy="381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87400"/>
            <a:ext cx="5080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05 · MCP 是什么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922000" y="787400"/>
            <a:ext cx="762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8B97AD"/>
                </a:solidFill>
                <a:latin typeface="等线"/>
                <a:ea typeface="等线"/>
                <a:cs typeface="等线"/>
                <a:sym typeface="等线"/>
              </a:rPr>
              <a:t>07 / 24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143000"/>
            <a:ext cx="1066800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MCP：工具定义先全量进 context，再按需调用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625600"/>
            <a:ext cx="1066800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Model Context Protocol — 启动阶段和运行阶段分开看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286000"/>
            <a:ext cx="1778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E8673C"/>
                </a:solidFill>
                <a:latin typeface="等线"/>
                <a:ea typeface="等线"/>
                <a:cs typeface="等线"/>
                <a:sym typeface="等线"/>
              </a:rPr>
              <a:t>① 启动阶段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540000" y="2286000"/>
            <a:ext cx="6350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Server 把所有 tool 定义一次性注入模型 context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52500" y="2667000"/>
            <a:ext cx="2286000" cy="939800"/>
          </a:xfrm>
          <a:prstGeom prst="roundRect">
            <a:avLst>
              <a:gd name="adj" fmla="val 1666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52500" y="2794000"/>
            <a:ext cx="2286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Agent / LLM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52500" y="3098800"/>
            <a:ext cx="2286000" cy="35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Claude · Cursor 等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340100" y="3098800"/>
            <a:ext cx="1638300" cy="25400"/>
          </a:xfrm>
          <a:prstGeom prst="rect">
            <a:avLst/>
          </a:prstGeom>
          <a:solidFill>
            <a:srgbClr val="E8673C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-5400000" flipH="false" flipV="false">
            <a:off x="4927600" y="3048000"/>
            <a:ext cx="101600" cy="127000"/>
          </a:xfrm>
          <a:prstGeom prst="triangle">
            <a:avLst>
              <a:gd name="adj" fmla="val 50000"/>
            </a:avLst>
          </a:prstGeom>
          <a:solidFill>
            <a:srgbClr val="E8673C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238500" y="2794000"/>
            <a:ext cx="1841500" cy="20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non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E8673C"/>
                </a:solidFill>
                <a:latin typeface="等线"/>
                <a:ea typeface="等线"/>
                <a:cs typeface="等线"/>
                <a:sym typeface="等线"/>
              </a:rPr>
              <a:t>工具定义全量注入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238500" y="3187700"/>
            <a:ext cx="1841500" cy="20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non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8B97AD"/>
                </a:solidFill>
                <a:latin typeface="等线"/>
                <a:ea typeface="等线"/>
                <a:cs typeface="等线"/>
                <a:sym typeface="等线"/>
              </a:rPr>
              <a:t>（名字/参数/schema）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080000" y="2667000"/>
            <a:ext cx="2286000" cy="939800"/>
          </a:xfrm>
          <a:prstGeom prst="roundRect">
            <a:avLst>
              <a:gd name="adj" fmla="val 16667"/>
            </a:avLst>
          </a:prstGeom>
          <a:solidFill>
            <a:srgbClr val="EEF3FB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080000" y="2794000"/>
            <a:ext cx="2286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MCP Server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080000" y="3098800"/>
            <a:ext cx="2286000" cy="35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声明能力清单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207500" y="2667000"/>
            <a:ext cx="2286000" cy="939800"/>
          </a:xfrm>
          <a:prstGeom prst="roundRect">
            <a:avLst>
              <a:gd name="adj" fmla="val 16667"/>
            </a:avLst>
          </a:prstGeom>
          <a:solidFill>
            <a:srgbClr val="FFF0EA">
              <a:alpha val="100000"/>
            </a:srgbClr>
          </a:solidFill>
          <a:ln w="12700" cmpd="sng" cap="flat">
            <a:solidFill>
              <a:srgbClr val="F5C8B5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207500" y="2768600"/>
            <a:ext cx="228600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E8673C"/>
                </a:solidFill>
                <a:latin typeface="等线"/>
                <a:ea typeface="等线"/>
                <a:cs typeface="等线"/>
                <a:sym typeface="等线"/>
              </a:rPr>
              <a:t>模型 context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207500" y="3048000"/>
            <a:ext cx="2286000" cy="406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所有 tool 定义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常驻其中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467600" y="3098800"/>
            <a:ext cx="1638300" cy="25400"/>
          </a:xfrm>
          <a:prstGeom prst="rect">
            <a:avLst/>
          </a:prstGeom>
          <a:solidFill>
            <a:srgbClr val="E8673C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5400000" flipH="false" flipV="false">
            <a:off x="9055100" y="3048000"/>
            <a:ext cx="101600" cy="127000"/>
          </a:xfrm>
          <a:prstGeom prst="triangle">
            <a:avLst>
              <a:gd name="adj" fmla="val 50000"/>
            </a:avLst>
          </a:prstGeom>
          <a:solidFill>
            <a:srgbClr val="E8673C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3937000"/>
            <a:ext cx="1778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② 运行阶段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2540000" y="3937000"/>
            <a:ext cx="7620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模型从 context 里选中某个 tool，发起调用、等待返回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952500" y="4318000"/>
            <a:ext cx="2286000" cy="939800"/>
          </a:xfrm>
          <a:prstGeom prst="roundRect">
            <a:avLst>
              <a:gd name="adj" fmla="val 1666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952500" y="4445000"/>
            <a:ext cx="2286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Agent / LLM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952500" y="4749800"/>
            <a:ext cx="2286000" cy="35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选择一个 tool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3340100" y="4610100"/>
            <a:ext cx="1638300" cy="1905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5400000" flipH="false" flipV="false">
            <a:off x="4927600" y="4559300"/>
            <a:ext cx="101600" cy="127000"/>
          </a:xfrm>
          <a:prstGeom prst="triangle">
            <a:avLst>
              <a:gd name="adj" fmla="val 50000"/>
            </a:avLst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3238500" y="4381500"/>
            <a:ext cx="1841500" cy="17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non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发起 tool 调用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3340100" y="4813300"/>
            <a:ext cx="1638300" cy="19050"/>
          </a:xfrm>
          <a:prstGeom prst="rect">
            <a:avLst/>
          </a:prstGeom>
          <a:solidFill>
            <a:srgbClr val="C8D2E0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-5400000" flipH="false" flipV="false">
            <a:off x="3289300" y="4762500"/>
            <a:ext cx="101600" cy="127000"/>
          </a:xfrm>
          <a:prstGeom prst="triangle">
            <a:avLst>
              <a:gd name="adj" fmla="val 50000"/>
            </a:avLst>
          </a:prstGeom>
          <a:solidFill>
            <a:srgbClr val="C8D2E0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3238500" y="4914900"/>
            <a:ext cx="1841500" cy="17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non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8B97AD"/>
                </a:solidFill>
                <a:latin typeface="等线"/>
                <a:ea typeface="等线"/>
                <a:cs typeface="等线"/>
                <a:sym typeface="等线"/>
              </a:rPr>
              <a:t>返回结果（也进 context）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5080000" y="4318000"/>
            <a:ext cx="2286000" cy="939800"/>
          </a:xfrm>
          <a:prstGeom prst="roundRect">
            <a:avLst>
              <a:gd name="adj" fmla="val 16667"/>
            </a:avLst>
          </a:prstGeom>
          <a:solidFill>
            <a:srgbClr val="EEF3FB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5080000" y="4445000"/>
            <a:ext cx="2286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MCP Server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5080000" y="4749800"/>
            <a:ext cx="2286000" cy="35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转译为 API 调用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7467600" y="4610100"/>
            <a:ext cx="1638300" cy="1905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5400000" flipH="false" flipV="false">
            <a:off x="9055100" y="4559300"/>
            <a:ext cx="101600" cy="127000"/>
          </a:xfrm>
          <a:prstGeom prst="triangle">
            <a:avLst>
              <a:gd name="adj" fmla="val 50000"/>
            </a:avLst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7366000" y="4381500"/>
            <a:ext cx="1841500" cy="17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non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执行 API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7467600" y="4813300"/>
            <a:ext cx="1638300" cy="19050"/>
          </a:xfrm>
          <a:prstGeom prst="rect">
            <a:avLst/>
          </a:prstGeom>
          <a:solidFill>
            <a:srgbClr val="C8D2E0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-5400000" flipH="false" flipV="false">
            <a:off x="7416800" y="4762500"/>
            <a:ext cx="101600" cy="127000"/>
          </a:xfrm>
          <a:prstGeom prst="triangle">
            <a:avLst>
              <a:gd name="adj" fmla="val 50000"/>
            </a:avLst>
          </a:prstGeom>
          <a:solidFill>
            <a:srgbClr val="C8D2E0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7366000" y="4914900"/>
            <a:ext cx="1841500" cy="17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non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8B97AD"/>
                </a:solidFill>
                <a:latin typeface="等线"/>
                <a:ea typeface="等线"/>
                <a:cs typeface="等线"/>
                <a:sym typeface="等线"/>
              </a:rPr>
              <a:t>API 数据</a:t>
            </a:r>
            <a:endParaRPr lang="en-US" sz="1100"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9207500" y="4318000"/>
            <a:ext cx="2286000" cy="939800"/>
          </a:xfrm>
          <a:prstGeom prst="roundRect">
            <a:avLst>
              <a:gd name="adj" fmla="val 1666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45" id="45"/>
          <p:cNvSpPr/>
          <p:nvPr/>
        </p:nvSpPr>
        <p:spPr>
          <a:xfrm rot="0" flipH="false" flipV="false">
            <a:off x="9207500" y="4445000"/>
            <a:ext cx="2286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外部能力</a:t>
            </a:r>
            <a:endParaRPr lang="en-US" sz="1100"/>
          </a:p>
        </p:txBody>
      </p:sp>
      <p:sp>
        <p:nvSpPr>
          <p:cNvPr name="AutoShape 46" id="46"/>
          <p:cNvSpPr/>
          <p:nvPr/>
        </p:nvSpPr>
        <p:spPr>
          <a:xfrm rot="0" flipH="false" flipV="false">
            <a:off x="9207500" y="4749800"/>
            <a:ext cx="2286000" cy="35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如飞书 OAPI</a:t>
            </a:r>
            <a:endParaRPr lang="en-US" sz="1100"/>
          </a:p>
        </p:txBody>
      </p:sp>
      <p:sp>
        <p:nvSpPr>
          <p:cNvPr name="AutoShape 47" id="47"/>
          <p:cNvSpPr/>
          <p:nvPr/>
        </p:nvSpPr>
        <p:spPr>
          <a:xfrm rot="0" flipH="false" flipV="false">
            <a:off x="762000" y="5486400"/>
            <a:ext cx="381000" cy="254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48" id="48"/>
          <p:cNvSpPr/>
          <p:nvPr/>
        </p:nvSpPr>
        <p:spPr>
          <a:xfrm rot="0" flipH="false" flipV="false">
            <a:off x="762000" y="5638800"/>
            <a:ext cx="10668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true" strike="noStrike" u="none" sz="12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MCP 通过标准化解决了“怎么接”这件事。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406400" cy="381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87400"/>
            <a:ext cx="6350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06 · 全量预加载的代价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922000" y="787400"/>
            <a:ext cx="762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8B97AD"/>
                </a:solidFill>
                <a:latin typeface="等线"/>
                <a:ea typeface="等线"/>
                <a:cs typeface="等线"/>
                <a:sym typeface="等线"/>
              </a:rPr>
              <a:t>08 / 24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06500"/>
            <a:ext cx="1066800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两类问题：定义进 context,数据也进 context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689100"/>
            <a:ext cx="1066800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MCP 架构下，工具定义 + 所有中间数据，都必须经过模型的 context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133600"/>
            <a:ext cx="5207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E8673C"/>
                </a:solidFill>
                <a:latin typeface="等线"/>
                <a:ea typeface="等线"/>
                <a:cs typeface="等线"/>
                <a:sym typeface="等线"/>
              </a:rPr>
              <a:t>类别 A · 工具定义必须预加载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387600"/>
            <a:ext cx="5207000" cy="25400"/>
          </a:xfrm>
          <a:prstGeom prst="rect">
            <a:avLst/>
          </a:prstGeom>
          <a:solidFill>
            <a:srgbClr val="F5C8B5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2133600"/>
            <a:ext cx="5207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E8673C"/>
                </a:solidFill>
                <a:latin typeface="等线"/>
                <a:ea typeface="等线"/>
                <a:cs typeface="等线"/>
                <a:sym typeface="等线"/>
              </a:rPr>
              <a:t>类别 B · 过程数据都经过 context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2387600"/>
            <a:ext cx="5207000" cy="25400"/>
          </a:xfrm>
          <a:prstGeom prst="rect">
            <a:avLst/>
          </a:prstGeom>
          <a:solidFill>
            <a:srgbClr val="F5C8B5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2540000"/>
            <a:ext cx="5207000" cy="14224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65200" y="2743200"/>
            <a:ext cx="762000" cy="254000"/>
          </a:xfrm>
          <a:prstGeom prst="roundRect">
            <a:avLst>
              <a:gd name="adj" fmla="val 16667"/>
            </a:avLst>
          </a:prstGeom>
          <a:solidFill>
            <a:srgbClr val="FFF0EA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65200" y="2768600"/>
            <a:ext cx="762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non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E8673C"/>
                </a:solidFill>
                <a:latin typeface="等线"/>
                <a:ea typeface="等线"/>
                <a:cs typeface="等线"/>
                <a:sym typeface="等线"/>
              </a:rPr>
              <a:t>例 1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65200" y="3098800"/>
            <a:ext cx="48006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单个业务域就可能吃掉 18k tokens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65200" y="3454400"/>
            <a:ext cx="48006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飞书云文档 MCP 的 tool 定义 ~18k;30+ 业务域全量暴露就会破 200k,远超 context window。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114800"/>
            <a:ext cx="5207000" cy="14224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65200" y="4318000"/>
            <a:ext cx="762000" cy="254000"/>
          </a:xfrm>
          <a:prstGeom prst="roundRect">
            <a:avLst>
              <a:gd name="adj" fmla="val 16667"/>
            </a:avLst>
          </a:prstGeom>
          <a:solidFill>
            <a:srgbClr val="FFF0EA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65200" y="4343400"/>
            <a:ext cx="762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non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E8673C"/>
                </a:solidFill>
                <a:latin typeface="等线"/>
                <a:ea typeface="等线"/>
                <a:cs typeface="等线"/>
                <a:sym typeface="等线"/>
              </a:rPr>
              <a:t>例 2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65200" y="4673600"/>
            <a:ext cx="48006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Schema 越复杂、膨胀越厉害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65200" y="5029200"/>
            <a:ext cx="48006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嵌套参数、枚举、条件必填、跨 tool 复用的 schema——工具数增长时，描述开销是超线性的。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223000" y="2540000"/>
            <a:ext cx="5207000" cy="14224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426200" y="2743200"/>
            <a:ext cx="762000" cy="254000"/>
          </a:xfrm>
          <a:prstGeom prst="roundRect">
            <a:avLst>
              <a:gd name="adj" fmla="val 16667"/>
            </a:avLst>
          </a:prstGeom>
          <a:solidFill>
            <a:srgbClr val="FFF0EA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26200" y="2768600"/>
            <a:ext cx="762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non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E8673C"/>
                </a:solidFill>
                <a:latin typeface="等线"/>
                <a:ea typeface="等线"/>
                <a:cs typeface="等线"/>
                <a:sym typeface="等线"/>
              </a:rPr>
              <a:t>例 3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426200" y="3098800"/>
            <a:ext cx="48006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返回数据必须进 context,大结果就装不下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426200" y="3454400"/>
            <a:ext cx="48006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多维表格导出一张就能吃掉整个窗口；MCP 场景下只能截行、截字段、省嵌套，用降低完整性换空间。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223000" y="4114800"/>
            <a:ext cx="5207000" cy="14224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426200" y="4318000"/>
            <a:ext cx="762000" cy="254000"/>
          </a:xfrm>
          <a:prstGeom prst="roundRect">
            <a:avLst>
              <a:gd name="adj" fmla="val 16667"/>
            </a:avLst>
          </a:prstGeom>
          <a:solidFill>
            <a:srgbClr val="FFF0EA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426200" y="4343400"/>
            <a:ext cx="762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non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E8673C"/>
                </a:solidFill>
                <a:latin typeface="等线"/>
                <a:ea typeface="等线"/>
                <a:cs typeface="等线"/>
                <a:sym typeface="等线"/>
              </a:rPr>
              <a:t>例 4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426200" y="4673600"/>
            <a:ext cx="48006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过程数据不能落盘、不能本地处理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426200" y="5029200"/>
            <a:ext cx="48006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无法先把数据保存到本地、再用脚本 / Python 处理——所有中间结果都必须过模型，context 就是唯一的工作台。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762000" y="5715000"/>
            <a:ext cx="381000" cy="254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762000" y="5880100"/>
            <a:ext cx="106680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true" strike="noStrike" u="none" sz="12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MCP 把模型的 context 变成了唯一通道——定义、参数、数据、中间结果，全都挤在这里。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2349500"/>
            <a:ext cx="4064000" cy="2286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8400">
                <a:solidFill>
                  <a:srgbClr val="E2E9F5"/>
                </a:solidFill>
                <a:latin typeface="等线"/>
                <a:ea typeface="等线"/>
                <a:cs typeface="等线"/>
                <a:sym typeface="等线"/>
              </a:rPr>
              <a:t>PART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8400">
                <a:solidFill>
                  <a:srgbClr val="E2E9F5"/>
                </a:solidFill>
                <a:latin typeface="等线"/>
                <a:ea typeface="等线"/>
                <a:cs typeface="等线"/>
                <a:sym typeface="等线"/>
              </a:rPr>
              <a:t>02</a:t>
            </a:r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930400"/>
            <a:ext cx="508000" cy="381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57400"/>
            <a:ext cx="508000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第 2 章 · 接下来聊聊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3149600"/>
            <a:ext cx="10668000" cy="769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44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为什么飞书又要做 CLI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4089400"/>
            <a:ext cx="106680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从 MCP 的代价出发，看另一条更适合飞书的路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6223000"/>
            <a:ext cx="762000" cy="12700"/>
          </a:xfrm>
          <a:prstGeom prst="rect">
            <a:avLst/>
          </a:prstGeom>
          <a:solidFill>
            <a:srgbClr val="D0DBEE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6350000"/>
            <a:ext cx="1066800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8B97AD"/>
                </a:solidFill>
                <a:latin typeface="等线"/>
                <a:ea typeface="等线"/>
                <a:cs typeface="等线"/>
                <a:sym typeface="等线"/>
              </a:rPr>
              <a:t>飞书 AI-friendly 分享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406400" cy="381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87400"/>
            <a:ext cx="6350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07 · 什么是 CLI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922000" y="787400"/>
            <a:ext cx="762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8B97AD"/>
                </a:solidFill>
                <a:latin typeface="等线"/>
                <a:ea typeface="等线"/>
                <a:cs typeface="等线"/>
                <a:sym typeface="等线"/>
              </a:rPr>
              <a:t>10 / 24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06500"/>
            <a:ext cx="10668000" cy="5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30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CLI:用命令给电脑下指令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778000"/>
            <a:ext cx="10668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Command Line Interface,命令行界面 — 比图形界面老得多，也简洁得多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349500"/>
            <a:ext cx="508000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在终端里长这样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641600"/>
            <a:ext cx="5334000" cy="2476500"/>
          </a:xfrm>
          <a:prstGeom prst="roundRect">
            <a:avLst>
              <a:gd name="adj" fmla="val 16666"/>
            </a:avLst>
          </a:prstGeom>
          <a:solidFill>
            <a:srgbClr val="1A1F2E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65200" y="2794000"/>
            <a:ext cx="114300" cy="114300"/>
          </a:xfrm>
          <a:prstGeom prst="ellipse">
            <a:avLst/>
          </a:prstGeom>
          <a:solidFill>
            <a:srgbClr val="FF5F56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143000" y="2794000"/>
            <a:ext cx="114300" cy="114300"/>
          </a:xfrm>
          <a:prstGeom prst="ellipse">
            <a:avLst/>
          </a:prstGeom>
          <a:solidFill>
            <a:srgbClr val="FFBD2E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320800" y="2794000"/>
            <a:ext cx="114300" cy="114300"/>
          </a:xfrm>
          <a:prstGeom prst="ellipse">
            <a:avLst/>
          </a:prstGeom>
          <a:solidFill>
            <a:srgbClr val="27C93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65200" y="3048000"/>
            <a:ext cx="4953000" cy="21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C8D6E8"/>
                </a:solidFill>
                <a:latin typeface="Consolas"/>
                <a:ea typeface="Consolas"/>
                <a:cs typeface="Consolas"/>
                <a:sym typeface="Consolas"/>
              </a:rPr>
              <a:t>$ ls
reports/  index.md  README.md
$ cd reports/
$ wc -l sales.csv
1042 sales.csv
$ grep ACME sales.csv | head -3
2026-02-08, ACME, 91200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C8D6E8"/>
                </a:solidFill>
                <a:latin typeface="Consolas"/>
                <a:ea typeface="Consolas"/>
                <a:cs typeface="Consolas"/>
                <a:sym typeface="Consolas"/>
              </a:rPr>
              <a:t>2026-03-15, ACME, 78900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50000" y="2641600"/>
            <a:ext cx="5080000" cy="8128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0" y="2641600"/>
            <a:ext cx="50800" cy="8128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553200" y="2743200"/>
            <a:ext cx="4724400" cy="17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9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特征 01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553200" y="2921000"/>
            <a:ext cx="472440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文本输入、文本输出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553200" y="3175000"/>
            <a:ext cx="47244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non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你打字，它回文字。没有按钮，没有弹窗，没有鼠标。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350000" y="3505200"/>
            <a:ext cx="5080000" cy="8128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350000" y="3505200"/>
            <a:ext cx="50800" cy="8128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553200" y="3606800"/>
            <a:ext cx="4724400" cy="17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9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特征 02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553200" y="3784600"/>
            <a:ext cx="472440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每个命令干一件事，可以管道组合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553200" y="4038600"/>
            <a:ext cx="47244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non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ls、grep、wc... 小工具用 | 拼起来，威力放大。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350000" y="4368800"/>
            <a:ext cx="5080000" cy="8128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350000" y="4368800"/>
            <a:ext cx="50800" cy="8128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553200" y="4470400"/>
            <a:ext cx="4724400" cy="17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9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特征 03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553200" y="4648200"/>
            <a:ext cx="472440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脚本可复现、可自动化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553200" y="4902200"/>
            <a:ext cx="47244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non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同一条命令序列，别人、明天、机器都能重跑。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62000" y="5435600"/>
            <a:ext cx="381000" cy="254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62000" y="5588000"/>
            <a:ext cx="106680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true" strike="noStrike" u="none" sz="12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CLI 看起来朴素，但它是计算机诞生以来最稳的人机接口——也正是 AI 最熟悉的一种。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406400" cy="381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87400"/>
            <a:ext cx="6350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08 · 为什么又回到 CLI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922000" y="787400"/>
            <a:ext cx="762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8B97AD"/>
                </a:solidFill>
                <a:latin typeface="等线"/>
                <a:ea typeface="等线"/>
                <a:cs typeface="等线"/>
                <a:sym typeface="等线"/>
              </a:rPr>
              <a:t>11 / 24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06500"/>
            <a:ext cx="10668000" cy="5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从 CLI 到 GUI,又从 GUI 回到 CLI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752600"/>
            <a:ext cx="10668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不是复古，是因为界面的主要用户从人变成了 AI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286000"/>
            <a:ext cx="3302000" cy="2667000"/>
          </a:xfrm>
          <a:prstGeom prst="roundRect">
            <a:avLst>
              <a:gd name="adj" fmla="val 1666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286000"/>
            <a:ext cx="50800" cy="2667000"/>
          </a:xfrm>
          <a:prstGeom prst="rect">
            <a:avLst/>
          </a:prstGeom>
          <a:solidFill>
            <a:srgbClr val="6B7A99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90600" y="2463800"/>
            <a:ext cx="2844800" cy="20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1970s — 起点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90600" y="2692400"/>
            <a:ext cx="2844800" cy="33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CLI 一统天下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90600" y="3073400"/>
            <a:ext cx="2844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true" strike="noStrike" u="none" sz="11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主要用户：程序员 / 运维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90600" y="3352800"/>
            <a:ext cx="2844800" cy="144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• 命令行是唯一的交互方式
• 精确、可脚本、可组合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• 学习成本高，对普通人不友好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254500" y="2286000"/>
            <a:ext cx="3302000" cy="2667000"/>
          </a:xfrm>
          <a:prstGeom prst="roundRect">
            <a:avLst>
              <a:gd name="adj" fmla="val 1666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254500" y="2286000"/>
            <a:ext cx="50800" cy="2667000"/>
          </a:xfrm>
          <a:prstGeom prst="rect">
            <a:avLst/>
          </a:prstGeom>
          <a:solidFill>
            <a:srgbClr val="6B7A99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483100" y="2463800"/>
            <a:ext cx="2844800" cy="20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1990s — 普及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483100" y="2692400"/>
            <a:ext cx="2844800" cy="33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GUI 让计算普及给所有人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483100" y="3073400"/>
            <a:ext cx="2844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true" strike="noStrike" u="none" sz="11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主要用户：每一个用计算机的人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483100" y="3352800"/>
            <a:ext cx="2844800" cy="144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• 图标、窗口、鼠标拖拽
• 不用记命令，看着就能点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• 代价：动作无法被机器精确引用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747000" y="2286000"/>
            <a:ext cx="3302000" cy="2667000"/>
          </a:xfrm>
          <a:prstGeom prst="roundRect">
            <a:avLst>
              <a:gd name="adj" fmla="val 16667"/>
            </a:avLst>
          </a:prstGeom>
          <a:solidFill>
            <a:srgbClr val="EEF3FB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747000" y="2286000"/>
            <a:ext cx="50800" cy="26670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975600" y="2463800"/>
            <a:ext cx="2844800" cy="20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2020s — 反转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975600" y="2692400"/>
            <a:ext cx="2844800" cy="33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AI 来了，CLI 再次成为接口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975600" y="3073400"/>
            <a:ext cx="2844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true" strike="noStrike" u="none" sz="11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主要用户：Agent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975600" y="3352800"/>
            <a:ext cx="2844800" cy="144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• AI 读/写文本，不会点鼠标
• CLI 的稳定、可组合、可脚本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  正是 Agent 需要的能力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4064000" y="3467100"/>
            <a:ext cx="1905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non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2000">
                <a:solidFill>
                  <a:srgbClr val="C8D2E0"/>
                </a:solidFill>
                <a:latin typeface="等线"/>
                <a:ea typeface="等线"/>
                <a:cs typeface="等线"/>
                <a:sym typeface="等线"/>
              </a:rPr>
              <a:t>→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556500" y="3467100"/>
            <a:ext cx="1905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non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→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62000" y="5207000"/>
            <a:ext cx="10668000" cy="635000"/>
          </a:xfrm>
          <a:prstGeom prst="roundRect">
            <a:avLst>
              <a:gd name="adj" fmla="val 16666"/>
            </a:avLst>
          </a:prstGeom>
          <a:solidFill>
            <a:srgbClr val="FFF0EA">
              <a:alpha val="100000"/>
            </a:srgbClr>
          </a:solidFill>
          <a:ln w="12700" cmpd="sng" cap="flat">
            <a:solidFill>
              <a:srgbClr val="F5C8B5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62000" y="5207000"/>
            <a:ext cx="50800" cy="635000"/>
          </a:xfrm>
          <a:prstGeom prst="rect">
            <a:avLst/>
          </a:prstGeom>
          <a:solidFill>
            <a:srgbClr val="E8673C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1016000" y="5372100"/>
            <a:ext cx="10287000" cy="33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关键转变：界面的主要用户不再只是人——当一端是 AI,文本接口比图形接口更自然。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62000" y="6096000"/>
            <a:ext cx="381000" cy="254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762000" y="6248400"/>
            <a:ext cx="10668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true" strike="noStrike" u="none" sz="12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GUI 是给人用的；CLI 现在也是给 AI 用的。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406400" cy="381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87400"/>
            <a:ext cx="6350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09 · AI 是怎么用 CLI 的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922000" y="787400"/>
            <a:ext cx="762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8B97AD"/>
                </a:solidFill>
                <a:latin typeface="等线"/>
                <a:ea typeface="等线"/>
                <a:cs typeface="等线"/>
                <a:sym typeface="等线"/>
              </a:rPr>
              <a:t>12 / 24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06500"/>
            <a:ext cx="10668000" cy="5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AI 怎么把 CLI 用起来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752600"/>
            <a:ext cx="10668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不需要专门的协议，Agent 就像程序员一样：在 shell 里敲、看返回、继续敲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222500"/>
            <a:ext cx="5207000" cy="12065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39800" y="2400300"/>
            <a:ext cx="381000" cy="381000"/>
          </a:xfrm>
          <a:prstGeom prst="ellipse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39800" y="2400300"/>
            <a:ext cx="3810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non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1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447800" y="2425700"/>
            <a:ext cx="43434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通过 subprocess 执行命令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447800" y="2755900"/>
            <a:ext cx="4343400" cy="546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Agent 像在终端里一样调用 shell,把命令字符串交给 bash/zsh 执行。不需要专用 MCP 协议。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121400" y="2222500"/>
            <a:ext cx="5207000" cy="12065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99200" y="2400300"/>
            <a:ext cx="381000" cy="381000"/>
          </a:xfrm>
          <a:prstGeom prst="ellipse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99200" y="2400300"/>
            <a:ext cx="3810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non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2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807200" y="2425700"/>
            <a:ext cx="43434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用 --help 自己探索能力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807200" y="2755900"/>
            <a:ext cx="4343400" cy="546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不熟的命令就 cmd --help、cmd sub --help,一层层看下去。工具定义不用预先塞进 context。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3581400"/>
            <a:ext cx="5207000" cy="12065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39800" y="3759200"/>
            <a:ext cx="381000" cy="381000"/>
          </a:xfrm>
          <a:prstGeom prst="ellipse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39800" y="3759200"/>
            <a:ext cx="3810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non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3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447800" y="3784600"/>
            <a:ext cx="43434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拿 stdout 当结果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447800" y="4114800"/>
            <a:ext cx="4343400" cy="546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输出是结构化文本(JSON 或行)。大结果可以写到文件、用 jq 过滤、只把需要的片段放回 context。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121400" y="3581400"/>
            <a:ext cx="5207000" cy="12065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299200" y="3759200"/>
            <a:ext cx="381000" cy="381000"/>
          </a:xfrm>
          <a:prstGeom prst="ellipse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299200" y="3759200"/>
            <a:ext cx="3810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non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4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807200" y="3784600"/>
            <a:ext cx="43434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失败就读错误、改命令、重试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807200" y="4114800"/>
            <a:ext cx="4343400" cy="546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命令出错会在 stderr 里说清楚问题。Agent 看错误、修参数、再来一次——跟人 debug 一样。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62000" y="5016500"/>
            <a:ext cx="10668000" cy="889000"/>
          </a:xfrm>
          <a:prstGeom prst="roundRect">
            <a:avLst>
              <a:gd name="adj" fmla="val 16666"/>
            </a:avLst>
          </a:prstGeom>
          <a:solidFill>
            <a:srgbClr val="1A1F2E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1016000" y="5118100"/>
            <a:ext cx="10414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8FB5FF"/>
                </a:solidFill>
                <a:latin typeface="等线"/>
                <a:ea typeface="等线"/>
                <a:cs typeface="等线"/>
                <a:sym typeface="等线"/>
              </a:rPr>
              <a:t>Agent:我帮你查明天的会议安排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1016000" y="5359400"/>
            <a:ext cx="10414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$ lark calendar agenda --date tomorrow --format json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1016000" y="5600700"/>
            <a:ext cx="10414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C8D6E8"/>
                </a:solidFill>
                <a:latin typeface="Consolas"/>
                <a:ea typeface="Consolas"/>
                <a:cs typeface="Consolas"/>
                <a:sym typeface="Consolas"/>
              </a:rPr>
              <a:t>[{"time":"10:00","title":"</a:t>
            </a:r>
            <a:r>
              <a:rPr lang="en-US" b="false" i="false" strike="noStrike" u="none" sz="1100">
                <a:solidFill>
                  <a:srgbClr val="C8D6E8"/>
                </a:solidFill>
                <a:latin typeface="等线"/>
                <a:ea typeface="等线"/>
                <a:cs typeface="等线"/>
                <a:sym typeface="等线"/>
              </a:rPr>
              <a:t>周会</a:t>
            </a:r>
            <a:r>
              <a:rPr lang="en-US" b="false" i="false" strike="noStrike" u="none" sz="1100">
                <a:solidFill>
                  <a:srgbClr val="C8D6E8"/>
                </a:solidFill>
                <a:latin typeface="Consolas"/>
                <a:ea typeface="Consolas"/>
                <a:cs typeface="Consolas"/>
                <a:sym typeface="Consolas"/>
              </a:rPr>
              <a:t>"},{"time":"14:30","title":"</a:t>
            </a:r>
            <a:r>
              <a:rPr lang="en-US" b="false" i="false" strike="noStrike" u="none" sz="1100">
                <a:solidFill>
                  <a:srgbClr val="C8D6E8"/>
                </a:solidFill>
                <a:latin typeface="等线"/>
                <a:ea typeface="等线"/>
                <a:cs typeface="等线"/>
                <a:sym typeface="等线"/>
              </a:rPr>
              <a:t>客户</a:t>
            </a:r>
            <a:r>
              <a:rPr lang="en-US" b="false" i="false" strike="noStrike" u="none" sz="1100">
                <a:solidFill>
                  <a:srgbClr val="C8D6E8"/>
                </a:solidFill>
                <a:latin typeface="Consolas"/>
                <a:ea typeface="Consolas"/>
                <a:cs typeface="Consolas"/>
                <a:sym typeface="Consolas"/>
              </a:rPr>
              <a:t> review"}]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762000" y="6070600"/>
            <a:ext cx="381000" cy="254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762000" y="6223000"/>
            <a:ext cx="10668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true" strike="noStrike" u="none" sz="12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Agent 用 CLI 的方式，跟程序员用 CLI 完全一样——这是 MCP 做不到的自然。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406400" cy="381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87400"/>
            <a:ext cx="6350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10 · Skills 是 CLI 的绝佳拍档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922000" y="787400"/>
            <a:ext cx="762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8B97AD"/>
                </a:solidFill>
                <a:latin typeface="等线"/>
                <a:ea typeface="等线"/>
                <a:cs typeface="等线"/>
                <a:sym typeface="等线"/>
              </a:rPr>
              <a:t>13 / 24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06500"/>
            <a:ext cx="1066800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6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光有 CLI 还不够：Agent 需要说明书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714500"/>
            <a:ext cx="10668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--help 告诉 Agent 有什么；Skills 告诉 Agent 什么时候用、怎么组合、要避什么坑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222500"/>
            <a:ext cx="5207000" cy="1778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222500"/>
            <a:ext cx="50800" cy="17780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90600" y="2400300"/>
            <a:ext cx="508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non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原则 01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90600" y="2705100"/>
            <a:ext cx="4749800" cy="35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按需加载：相关了才读，不预占 context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90600" y="3136900"/>
            <a:ext cx="4749800" cy="787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Skills 按业务域组织成 Markdown 文档。Agent 做日历任务才读 calendar/SKILL.md,做文档才读 doc/SKILL.md。Context 空间只留给当前任务真正需要的信息。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23000" y="2222500"/>
            <a:ext cx="5207000" cy="1778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2222500"/>
            <a:ext cx="50800" cy="17780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51600" y="2400300"/>
            <a:ext cx="508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non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原则 02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451600" y="2705100"/>
            <a:ext cx="4749800" cy="35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渐进式披露：从总到分，一层层展开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51600" y="3136900"/>
            <a:ext cx="4749800" cy="787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先读顶层概览知道有什么能力；要用到时再展开具体操作的细则、踩坑提示、示例。复杂度按需释放，不会一上来就被细节淹没。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4254500"/>
            <a:ext cx="508000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SKILL.md 里通常写什么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4470400"/>
            <a:ext cx="10668000" cy="1041400"/>
          </a:xfrm>
          <a:prstGeom prst="roundRect">
            <a:avLst>
              <a:gd name="adj" fmla="val 16666"/>
            </a:avLst>
          </a:prstGeom>
          <a:solidFill>
            <a:srgbClr val="1A1F2E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6000" y="4597400"/>
            <a:ext cx="10160000" cy="86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C8D6E8"/>
                </a:solidFill>
                <a:latin typeface="Consolas"/>
                <a:ea typeface="Consolas"/>
                <a:cs typeface="Consolas"/>
                <a:sym typeface="Consolas"/>
              </a:rPr>
              <a:t># calendar/SKILL.md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C8D6E8"/>
                </a:solidFill>
                <a:latin typeface="Consolas"/>
                <a:ea typeface="Consolas"/>
                <a:cs typeface="Consolas"/>
                <a:sym typeface="Consolas"/>
              </a:rPr>
              <a:t>## </a:t>
            </a:r>
            <a:r>
              <a:rPr lang="en-US" b="false" i="false" strike="noStrike" u="none" sz="1100">
                <a:solidFill>
                  <a:srgbClr val="C8D6E8"/>
                </a:solidFill>
                <a:latin typeface="等线"/>
                <a:ea typeface="等线"/>
                <a:cs typeface="等线"/>
                <a:sym typeface="等线"/>
              </a:rPr>
              <a:t>何时使用</a:t>
            </a:r>
            <a:r>
              <a:rPr lang="en-US" b="false" i="false" strike="noStrike" u="none" sz="1100">
                <a:solidFill>
                  <a:srgbClr val="C8D6E8"/>
                </a:solidFill>
                <a:latin typeface="Consolas"/>
                <a:ea typeface="Consolas"/>
                <a:cs typeface="Consolas"/>
                <a:sym typeface="Consolas"/>
              </a:rPr>
              <a:t>  → </a:t>
            </a:r>
            <a:r>
              <a:rPr lang="en-US" b="false" i="false" strike="noStrike" u="none" sz="1100">
                <a:solidFill>
                  <a:srgbClr val="C8D6E8"/>
                </a:solidFill>
                <a:latin typeface="等线"/>
                <a:ea typeface="等线"/>
                <a:cs typeface="等线"/>
                <a:sym typeface="等线"/>
              </a:rPr>
              <a:t>约会议、查日程、看谁有空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C8D6E8"/>
                </a:solidFill>
                <a:latin typeface="Consolas"/>
                <a:ea typeface="Consolas"/>
                <a:cs typeface="Consolas"/>
                <a:sym typeface="Consolas"/>
              </a:rPr>
              <a:t>## </a:t>
            </a:r>
            <a:r>
              <a:rPr lang="en-US" b="false" i="false" strike="noStrike" u="none" sz="1100">
                <a:solidFill>
                  <a:srgbClr val="C8D6E8"/>
                </a:solidFill>
                <a:latin typeface="等线"/>
                <a:ea typeface="等线"/>
                <a:cs typeface="等线"/>
                <a:sym typeface="等线"/>
              </a:rPr>
              <a:t>常用操作</a:t>
            </a:r>
            <a:r>
              <a:rPr lang="en-US" b="false" i="false" strike="noStrike" u="none" sz="1100">
                <a:solidFill>
                  <a:srgbClr val="C8D6E8"/>
                </a:solidFill>
                <a:latin typeface="Consolas"/>
                <a:ea typeface="Consolas"/>
                <a:cs typeface="Consolas"/>
                <a:sym typeface="Consolas"/>
              </a:rPr>
              <a:t> → lark calendar events create / freebusy ...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C8D6E8"/>
                </a:solidFill>
                <a:latin typeface="Consolas"/>
                <a:ea typeface="Consolas"/>
                <a:cs typeface="Consolas"/>
                <a:sym typeface="Consolas"/>
              </a:rPr>
              <a:t>## </a:t>
            </a:r>
            <a:r>
              <a:rPr lang="en-US" b="false" i="false" strike="noStrike" u="none" sz="1100">
                <a:solidFill>
                  <a:srgbClr val="C8D6E8"/>
                </a:solidFill>
                <a:latin typeface="等线"/>
                <a:ea typeface="等线"/>
                <a:cs typeface="等线"/>
                <a:sym typeface="等线"/>
              </a:rPr>
              <a:t>坑</a:t>
            </a:r>
            <a:r>
              <a:rPr lang="en-US" b="false" i="false" strike="noStrike" u="none" sz="1100">
                <a:solidFill>
                  <a:srgbClr val="C8D6E8"/>
                </a:solidFill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n-US" b="false" i="false" strike="noStrike" u="none" sz="1100">
                <a:solidFill>
                  <a:srgbClr val="C8D6E8"/>
                </a:solidFill>
                <a:latin typeface="等线"/>
                <a:ea typeface="等线"/>
                <a:cs typeface="等线"/>
                <a:sym typeface="等线"/>
              </a:rPr>
              <a:t>时间必须</a:t>
            </a:r>
            <a:r>
              <a:rPr lang="en-US" b="false" i="false" strike="noStrike" u="none" sz="1100">
                <a:solidFill>
                  <a:srgbClr val="C8D6E8"/>
                </a:solidFill>
                <a:latin typeface="Consolas"/>
                <a:ea typeface="Consolas"/>
                <a:cs typeface="Consolas"/>
                <a:sym typeface="Consolas"/>
              </a:rPr>
              <a:t> RFC3339</a:t>
            </a:r>
            <a:r>
              <a:rPr lang="en-US" b="false" i="false" strike="noStrike" u="none" sz="1100">
                <a:solidFill>
                  <a:srgbClr val="C8D6E8"/>
                </a:solidFill>
                <a:latin typeface="等线"/>
                <a:ea typeface="等线"/>
                <a:cs typeface="等线"/>
                <a:sym typeface="等线"/>
              </a:rPr>
              <a:t>；</a:t>
            </a:r>
            <a:r>
              <a:rPr lang="en-US" b="false" i="false" strike="noStrike" u="none" sz="1100">
                <a:solidFill>
                  <a:srgbClr val="C8D6E8"/>
                </a:solidFill>
                <a:latin typeface="Consolas"/>
                <a:ea typeface="Consolas"/>
                <a:cs typeface="Consolas"/>
                <a:sym typeface="Consolas"/>
              </a:rPr>
              <a:t>attendees </a:t>
            </a:r>
            <a:r>
              <a:rPr lang="en-US" b="false" i="false" strike="noStrike" u="none" sz="1100">
                <a:solidFill>
                  <a:srgbClr val="C8D6E8"/>
                </a:solidFill>
                <a:latin typeface="等线"/>
                <a:ea typeface="等线"/>
                <a:cs typeface="等线"/>
                <a:sym typeface="等线"/>
              </a:rPr>
              <a:t>要</a:t>
            </a:r>
            <a:r>
              <a:rPr lang="en-US" b="false" i="false" strike="noStrike" u="none" sz="1100">
                <a:solidFill>
                  <a:srgbClr val="C8D6E8"/>
                </a:solidFill>
                <a:latin typeface="Consolas"/>
                <a:ea typeface="Consolas"/>
                <a:cs typeface="Consolas"/>
                <a:sym typeface="Consolas"/>
              </a:rPr>
              <a:t> open_id </a:t>
            </a:r>
            <a:r>
              <a:rPr lang="en-US" b="false" i="false" strike="noStrike" u="none" sz="1100">
                <a:solidFill>
                  <a:srgbClr val="C8D6E8"/>
                </a:solidFill>
                <a:latin typeface="等线"/>
                <a:ea typeface="等线"/>
                <a:cs typeface="等线"/>
                <a:sym typeface="等线"/>
              </a:rPr>
              <a:t>不是邮箱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5740400"/>
            <a:ext cx="381000" cy="254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5892800"/>
            <a:ext cx="10668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true" strike="noStrike" u="none" sz="12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CLI 给能力，Skills 给使用方式——组合起来，才能让 Agent 稳定地做对事。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406400" cy="381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87400"/>
            <a:ext cx="5080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11 · 一个最小例子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922000" y="787400"/>
            <a:ext cx="762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8B97AD"/>
                </a:solidFill>
                <a:latin typeface="等线"/>
                <a:ea typeface="等线"/>
                <a:cs typeface="等线"/>
                <a:sym typeface="等线"/>
              </a:rPr>
              <a:t>14 / 24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33500"/>
            <a:ext cx="10668000" cy="5847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查看“明天的日程"：两种走法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006600"/>
            <a:ext cx="106680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对通用 Agent 来说，CLI 解决执行，Skills 解决理解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603500"/>
            <a:ext cx="5016500" cy="2603500"/>
          </a:xfrm>
          <a:prstGeom prst="roundRect">
            <a:avLst>
              <a:gd name="adj" fmla="val 1666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41400" y="2819400"/>
            <a:ext cx="3175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C77B40"/>
                </a:solidFill>
                <a:latin typeface="等线"/>
                <a:ea typeface="等线"/>
                <a:cs typeface="等线"/>
                <a:sym typeface="等线"/>
              </a:rPr>
              <a:t>方式 A · 自己摸索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43000" y="3200400"/>
            <a:ext cx="2286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non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C77B40"/>
                </a:solidFill>
                <a:latin typeface="等线"/>
                <a:ea typeface="等线"/>
                <a:cs typeface="等线"/>
                <a:sym typeface="等线"/>
              </a:rPr>
              <a:t>1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460500" y="3200400"/>
            <a:ext cx="4064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查 API 文档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143000" y="3556000"/>
            <a:ext cx="2286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non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C77B40"/>
                </a:solidFill>
                <a:latin typeface="等线"/>
                <a:ea typeface="等线"/>
                <a:cs typeface="等线"/>
                <a:sym typeface="等线"/>
              </a:rPr>
              <a:t>2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460500" y="3556000"/>
            <a:ext cx="4064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找接口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143000" y="3911600"/>
            <a:ext cx="2286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non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C77B40"/>
                </a:solidFill>
                <a:latin typeface="等线"/>
                <a:ea typeface="等线"/>
                <a:cs typeface="等线"/>
                <a:sym typeface="等线"/>
              </a:rPr>
              <a:t>3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460500" y="3911600"/>
            <a:ext cx="4064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拼时间参数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143000" y="4267200"/>
            <a:ext cx="2286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non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C77B40"/>
                </a:solidFill>
                <a:latin typeface="等线"/>
                <a:ea typeface="等线"/>
                <a:cs typeface="等线"/>
                <a:sym typeface="等线"/>
              </a:rPr>
              <a:t>4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460500" y="4267200"/>
            <a:ext cx="4064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处理返回格式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143000" y="4622800"/>
            <a:ext cx="2286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non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C77B40"/>
                </a:solidFill>
                <a:latin typeface="等线"/>
                <a:ea typeface="等线"/>
                <a:cs typeface="等线"/>
                <a:sym typeface="等线"/>
              </a:rPr>
              <a:t>5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460500" y="4622800"/>
            <a:ext cx="4064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反复重试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13500" y="2603500"/>
            <a:ext cx="5016500" cy="2603500"/>
          </a:xfrm>
          <a:prstGeom prst="roundRect">
            <a:avLst>
              <a:gd name="adj" fmla="val 1666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13500" y="2603500"/>
            <a:ext cx="50800" cy="26035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692900" y="2819400"/>
            <a:ext cx="3175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方式 B · 加载 Skill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794500" y="3302000"/>
            <a:ext cx="2286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non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1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112000" y="3302000"/>
            <a:ext cx="40640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加载 Skill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794500" y="3733800"/>
            <a:ext cx="2286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non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2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112000" y="3733800"/>
            <a:ext cx="40640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直接执行命令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692900" y="4318000"/>
            <a:ext cx="4508500" cy="660400"/>
          </a:xfrm>
          <a:prstGeom prst="roundRect">
            <a:avLst>
              <a:gd name="adj" fmla="val 16666"/>
            </a:avLst>
          </a:prstGeom>
          <a:solidFill>
            <a:srgbClr val="1A1F2E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921500" y="4508500"/>
            <a:ext cx="2540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non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B8D9"/>
                </a:solidFill>
                <a:latin typeface="等线"/>
                <a:ea typeface="等线"/>
                <a:cs typeface="等线"/>
                <a:sym typeface="等线"/>
              </a:rPr>
              <a:t>$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175500" y="4508500"/>
            <a:ext cx="38100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calendar +agenda --tomorrow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62000" y="5524500"/>
            <a:ext cx="381000" cy="254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62000" y="5715000"/>
            <a:ext cx="106680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true" strike="noStrike" u="none" sz="12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CLI 解决执行问题，Skills 解决理解问题，两者结合更适合广覆盖场景。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406400" cy="381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87400"/>
            <a:ext cx="6350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12 · CLI + Skills 的解法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922000" y="787400"/>
            <a:ext cx="762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8B97AD"/>
                </a:solidFill>
                <a:latin typeface="等线"/>
                <a:ea typeface="等线"/>
                <a:cs typeface="等线"/>
                <a:sym typeface="等线"/>
              </a:rPr>
              <a:t>15 / 24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70000"/>
            <a:ext cx="10668000" cy="49244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6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CLI 是如何解决 MCP 遇到的问题的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879600"/>
            <a:ext cx="10668000" cy="2923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把第 7 页的两类四例，逐条回应——CLI + Skills 天然避开了全量预加载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362200"/>
            <a:ext cx="4826000" cy="7366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362200"/>
            <a:ext cx="38100" cy="736600"/>
          </a:xfrm>
          <a:prstGeom prst="rect">
            <a:avLst/>
          </a:prstGeom>
          <a:solidFill>
            <a:srgbClr val="E8673C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39800" y="2463800"/>
            <a:ext cx="1016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non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E8673C"/>
                </a:solidFill>
                <a:latin typeface="等线"/>
                <a:ea typeface="等线"/>
                <a:cs typeface="等线"/>
                <a:sym typeface="等线"/>
              </a:rPr>
              <a:t>例 1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39800" y="2692400"/>
            <a:ext cx="4470400" cy="2923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单域工具定义就吃掉 18k tokens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5400000" flipH="false" flipV="false">
            <a:off x="5689600" y="2654300"/>
            <a:ext cx="177800" cy="152400"/>
          </a:xfrm>
          <a:prstGeom prst="triangle">
            <a:avLst>
              <a:gd name="adj" fmla="val 50000"/>
            </a:avLst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096000" y="2362200"/>
            <a:ext cx="5334000" cy="736600"/>
          </a:xfrm>
          <a:prstGeom prst="roundRect">
            <a:avLst>
              <a:gd name="adj" fmla="val 16666"/>
            </a:avLst>
          </a:prstGeom>
          <a:solidFill>
            <a:srgbClr val="EEF3FB">
              <a:alpha val="100000"/>
            </a:srgbClr>
          </a:solidFill>
          <a:ln w="12700" cmpd="sng" cap="flat">
            <a:solidFill>
              <a:srgbClr val="D0DB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096000" y="2362200"/>
            <a:ext cx="38100" cy="7366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73800" y="2454990"/>
            <a:ext cx="1270000" cy="2462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CLI + Skills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73800" y="2692400"/>
            <a:ext cx="4978400" cy="2923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不预加载，Agent 需要时查 --help / schema,用完即扔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3200400"/>
            <a:ext cx="4826000" cy="7366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3200400"/>
            <a:ext cx="38100" cy="736600"/>
          </a:xfrm>
          <a:prstGeom prst="rect">
            <a:avLst/>
          </a:prstGeom>
          <a:solidFill>
            <a:srgbClr val="E8673C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39800" y="3302000"/>
            <a:ext cx="1016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non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E8673C"/>
                </a:solidFill>
                <a:latin typeface="等线"/>
                <a:ea typeface="等线"/>
                <a:cs typeface="等线"/>
                <a:sym typeface="等线"/>
              </a:rPr>
              <a:t>例 2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39800" y="3530600"/>
            <a:ext cx="4470400" cy="2923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Schema 越复杂，描述膨胀越厉害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5400000" flipH="false" flipV="false">
            <a:off x="5689600" y="3492500"/>
            <a:ext cx="177800" cy="152400"/>
          </a:xfrm>
          <a:prstGeom prst="triangle">
            <a:avLst>
              <a:gd name="adj" fmla="val 50000"/>
            </a:avLst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096000" y="3200400"/>
            <a:ext cx="5334000" cy="736600"/>
          </a:xfrm>
          <a:prstGeom prst="roundRect">
            <a:avLst>
              <a:gd name="adj" fmla="val 16666"/>
            </a:avLst>
          </a:prstGeom>
          <a:solidFill>
            <a:srgbClr val="EEF3FB">
              <a:alpha val="100000"/>
            </a:srgbClr>
          </a:solidFill>
          <a:ln w="12700" cmpd="sng" cap="flat">
            <a:solidFill>
              <a:srgbClr val="D0DB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096000" y="3200400"/>
            <a:ext cx="38100" cy="7366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273800" y="3293190"/>
            <a:ext cx="1270000" cy="2462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CLI + Skills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273800" y="3530600"/>
            <a:ext cx="4978400" cy="2923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Skills 按需加载，只读当前任务相关业务域的文档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62000" y="4038600"/>
            <a:ext cx="4826000" cy="7366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62000" y="4038600"/>
            <a:ext cx="38100" cy="736600"/>
          </a:xfrm>
          <a:prstGeom prst="rect">
            <a:avLst/>
          </a:prstGeom>
          <a:solidFill>
            <a:srgbClr val="E8673C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939800" y="4140200"/>
            <a:ext cx="1016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non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E8673C"/>
                </a:solidFill>
                <a:latin typeface="等线"/>
                <a:ea typeface="等线"/>
                <a:cs typeface="等线"/>
                <a:sym typeface="等线"/>
              </a:rPr>
              <a:t>例 3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939800" y="4368800"/>
            <a:ext cx="4470400" cy="2923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返回数据必须进 context,大结果装不下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5400000" flipH="false" flipV="false">
            <a:off x="5689600" y="4330700"/>
            <a:ext cx="177800" cy="152400"/>
          </a:xfrm>
          <a:prstGeom prst="triangle">
            <a:avLst>
              <a:gd name="adj" fmla="val 50000"/>
            </a:avLst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096000" y="4038600"/>
            <a:ext cx="5334000" cy="736600"/>
          </a:xfrm>
          <a:prstGeom prst="roundRect">
            <a:avLst>
              <a:gd name="adj" fmla="val 16666"/>
            </a:avLst>
          </a:prstGeom>
          <a:solidFill>
            <a:srgbClr val="EEF3FB">
              <a:alpha val="100000"/>
            </a:srgbClr>
          </a:solidFill>
          <a:ln w="12700" cmpd="sng" cap="flat">
            <a:solidFill>
              <a:srgbClr val="D0DB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096000" y="4038600"/>
            <a:ext cx="38100" cy="7366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273800" y="4131390"/>
            <a:ext cx="1270000" cy="2462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CLI + Skills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273800" y="4368800"/>
            <a:ext cx="4978400" cy="2923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输出走 stdout,可 jq 提取、写文件，不必全进 context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762000" y="4876800"/>
            <a:ext cx="4826000" cy="7366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762000" y="4876800"/>
            <a:ext cx="38100" cy="736600"/>
          </a:xfrm>
          <a:prstGeom prst="rect">
            <a:avLst/>
          </a:prstGeom>
          <a:solidFill>
            <a:srgbClr val="E8673C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939800" y="4978400"/>
            <a:ext cx="1016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non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E8673C"/>
                </a:solidFill>
                <a:latin typeface="等线"/>
                <a:ea typeface="等线"/>
                <a:cs typeface="等线"/>
                <a:sym typeface="等线"/>
              </a:rPr>
              <a:t>例 4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939800" y="5207000"/>
            <a:ext cx="4470400" cy="2923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过程数据不能落盘、不能本地处理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5400000" flipH="false" flipV="false">
            <a:off x="5689600" y="5168900"/>
            <a:ext cx="177800" cy="152400"/>
          </a:xfrm>
          <a:prstGeom prst="triangle">
            <a:avLst>
              <a:gd name="adj" fmla="val 50000"/>
            </a:avLst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6096000" y="4876800"/>
            <a:ext cx="5334000" cy="736600"/>
          </a:xfrm>
          <a:prstGeom prst="roundRect">
            <a:avLst>
              <a:gd name="adj" fmla="val 16666"/>
            </a:avLst>
          </a:prstGeom>
          <a:solidFill>
            <a:srgbClr val="EEF3FB">
              <a:alpha val="100000"/>
            </a:srgbClr>
          </a:solidFill>
          <a:ln w="12700" cmpd="sng" cap="flat">
            <a:solidFill>
              <a:srgbClr val="D0DB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6096000" y="4876800"/>
            <a:ext cx="38100" cy="7366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6273800" y="4969590"/>
            <a:ext cx="1270000" cy="2462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CLI + Skills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6273800" y="5207000"/>
            <a:ext cx="4978400" cy="2923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过程数据落本地，用 Python 等处理，只把结果给模型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762000" y="5715000"/>
            <a:ext cx="381000" cy="254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762000" y="5880100"/>
            <a:ext cx="106680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true" strike="noStrike" u="none" sz="12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MCP 是补充层，不是对立面。CLI + Skills 在飞书这种广 API、多业务域场景下更适合通用 Agent。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406400" cy="381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87400"/>
            <a:ext cx="5080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13 · 飞书 CLI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922000" y="787400"/>
            <a:ext cx="762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8B97AD"/>
                </a:solidFill>
                <a:latin typeface="等线"/>
                <a:ea typeface="等线"/>
                <a:cs typeface="等线"/>
                <a:sym typeface="等线"/>
              </a:rPr>
              <a:t>16 / 24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70000"/>
            <a:ext cx="10668000" cy="5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飞书 CLI:面向 AI Agent 的统一接入层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816100"/>
            <a:ext cx="10668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不是多一个命令行工具，而是在 OAPI 之上补上 Agent 需要的那层适配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93750" y="2413000"/>
            <a:ext cx="3365500" cy="1905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93750" y="2413000"/>
            <a:ext cx="3365500" cy="381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93750" y="2583647"/>
            <a:ext cx="1481496" cy="95410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non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56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20+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93750" y="3454400"/>
            <a:ext cx="336550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个业务域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46150" y="3746500"/>
            <a:ext cx="306070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IM · 文档 · 日历 · 多维表格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任务 · 云盘 · 审批 ...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413250" y="2413000"/>
            <a:ext cx="3365500" cy="1905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413250" y="2413000"/>
            <a:ext cx="3365500" cy="381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413250" y="2583647"/>
            <a:ext cx="1880643" cy="95410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non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56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300+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413250" y="3454400"/>
            <a:ext cx="336550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条 Commands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565650" y="3746500"/>
            <a:ext cx="306070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每条命令 = 一个能力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Agent 能直接调用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32750" y="2413000"/>
            <a:ext cx="3365500" cy="1905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032750" y="2413000"/>
            <a:ext cx="3365500" cy="381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032750" y="2583647"/>
            <a:ext cx="1481496" cy="95410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non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56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20+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032750" y="3454400"/>
            <a:ext cx="336550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套 AI Agent Skills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185150" y="3746500"/>
            <a:ext cx="306070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按业务域配套的使用说明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告诉 Agent 怎么用、避什么坑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562600"/>
            <a:ext cx="381000" cy="254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5715000"/>
            <a:ext cx="10668000" cy="635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true" strike="noStrike" u="none" sz="12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重点不是"命令行"三个字，而是"统一接入层"——让飞书能力变成 Agent 可以稳定消费的操作面。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4572000"/>
            <a:ext cx="190500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non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接入友好 · 找得到、看得懂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2730500" y="4572000"/>
            <a:ext cx="869950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non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统一入口 + 结构化 schema + Skills 文档——让 AI 知道该调什么、怎么调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62000" y="4927600"/>
            <a:ext cx="190500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non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执行友好 · 调得通、调得稳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2730500" y="4916101"/>
            <a:ext cx="6231193" cy="2769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non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内置认证 / 分页 / 文件 IO; Meta 自动生成，手动封装高频场景——多层协同提端到端成功率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406400" cy="381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87400"/>
            <a:ext cx="5080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14 · AI-friendly 设计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922000" y="787400"/>
            <a:ext cx="762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8B97AD"/>
                </a:solidFill>
                <a:latin typeface="等线"/>
                <a:ea typeface="等线"/>
                <a:cs typeface="等线"/>
                <a:sym typeface="等线"/>
              </a:rPr>
              <a:t>17 / 24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70000"/>
            <a:ext cx="10668000" cy="5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6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lark-cli 的四层架构 + Skills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778000"/>
            <a:ext cx="10668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越往上 → 越场景化、越封装；越往下 → 越通用、越原子、覆盖越广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207000" y="2476500"/>
            <a:ext cx="1778000" cy="609600"/>
          </a:xfrm>
          <a:prstGeom prst="roundRect">
            <a:avLst>
              <a:gd name="adj" fmla="val 16667"/>
            </a:avLst>
          </a:prstGeom>
          <a:solidFill>
            <a:srgbClr val="C8DBFA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207000" y="2476500"/>
            <a:ext cx="38100" cy="609600"/>
          </a:xfrm>
          <a:prstGeom prst="rect">
            <a:avLst/>
          </a:prstGeom>
          <a:solidFill>
            <a:srgbClr val="1F4ECC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384800" y="2578100"/>
            <a:ext cx="14224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non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L4 · Workflow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384800" y="2806700"/>
            <a:ext cx="14224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non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跨域闭环，端到端场景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72000" y="3124200"/>
            <a:ext cx="3048000" cy="609600"/>
          </a:xfrm>
          <a:prstGeom prst="roundRect">
            <a:avLst>
              <a:gd name="adj" fmla="val 16667"/>
            </a:avLst>
          </a:prstGeom>
          <a:solidFill>
            <a:srgbClr val="DCE6F5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572000" y="3124200"/>
            <a:ext cx="38100" cy="6096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749800" y="3225800"/>
            <a:ext cx="26924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non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L3 · Shortcuts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749800" y="3454400"/>
            <a:ext cx="26924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non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高频场景，手动封装的快捷命令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937000" y="3771900"/>
            <a:ext cx="4318000" cy="609600"/>
          </a:xfrm>
          <a:prstGeom prst="roundRect">
            <a:avLst>
              <a:gd name="adj" fmla="val 16667"/>
            </a:avLst>
          </a:prstGeom>
          <a:solidFill>
            <a:srgbClr val="EDF2FA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937000" y="3771900"/>
            <a:ext cx="38100" cy="609600"/>
          </a:xfrm>
          <a:prstGeom prst="rect">
            <a:avLst/>
          </a:prstGeom>
          <a:solidFill>
            <a:srgbClr val="5A8FE8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114800" y="3873500"/>
            <a:ext cx="39624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non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L2 · Meta API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114800" y="4102100"/>
            <a:ext cx="39624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non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结构化调用，自动生成，schema 友好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3340100" y="4413250"/>
            <a:ext cx="5588000" cy="609600"/>
          </a:xfrm>
          <a:prstGeom prst="roundRect">
            <a:avLst>
              <a:gd name="adj" fmla="val 16667"/>
            </a:avLst>
          </a:prstGeom>
          <a:solidFill>
            <a:srgbClr val="F8FAFD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3340100" y="4413250"/>
            <a:ext cx="38100" cy="609600"/>
          </a:xfrm>
          <a:prstGeom prst="rect">
            <a:avLst/>
          </a:prstGeom>
          <a:solidFill>
            <a:srgbClr val="8FB2E8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3517900" y="4514850"/>
            <a:ext cx="52324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non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L1 · 通用 API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3517900" y="4743450"/>
            <a:ext cx="52324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non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全覆盖，飞书 OAPI 能力的底层映射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2857500" y="2603500"/>
            <a:ext cx="19050" cy="22987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2806700" y="2501900"/>
            <a:ext cx="127000" cy="127000"/>
          </a:xfrm>
          <a:prstGeom prst="triangle">
            <a:avLst>
              <a:gd name="adj" fmla="val 50000"/>
            </a:avLst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2298700" y="3371850"/>
            <a:ext cx="635000" cy="20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封装度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2552700" y="2501900"/>
            <a:ext cx="381000" cy="17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高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2552700" y="4826000"/>
            <a:ext cx="381000" cy="17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8B97AD"/>
                </a:solidFill>
                <a:latin typeface="等线"/>
                <a:ea typeface="等线"/>
                <a:cs typeface="等线"/>
                <a:sym typeface="等线"/>
              </a:rPr>
              <a:t>低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9334500" y="2603500"/>
            <a:ext cx="19050" cy="2298700"/>
          </a:xfrm>
          <a:prstGeom prst="rect">
            <a:avLst/>
          </a:prstGeom>
          <a:solidFill>
            <a:srgbClr val="E8673C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10800000" flipH="false" flipV="false">
            <a:off x="9283700" y="4876800"/>
            <a:ext cx="127000" cy="127000"/>
          </a:xfrm>
          <a:prstGeom prst="triangle">
            <a:avLst>
              <a:gd name="adj" fmla="val 50000"/>
            </a:avLst>
          </a:prstGeom>
          <a:solidFill>
            <a:srgbClr val="E8673C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9461500" y="3371850"/>
            <a:ext cx="762000" cy="20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E8673C"/>
                </a:solidFill>
                <a:latin typeface="等线"/>
                <a:ea typeface="等线"/>
                <a:cs typeface="等线"/>
                <a:sym typeface="等线"/>
              </a:rPr>
              <a:t>覆盖面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9461500" y="2501900"/>
            <a:ext cx="381000" cy="17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8B97AD"/>
                </a:solidFill>
                <a:latin typeface="等线"/>
                <a:ea typeface="等线"/>
                <a:cs typeface="等线"/>
                <a:sym typeface="等线"/>
              </a:rPr>
              <a:t>窄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9461500" y="4826000"/>
            <a:ext cx="381000" cy="17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E8673C"/>
                </a:solidFill>
                <a:latin typeface="等线"/>
                <a:ea typeface="等线"/>
                <a:cs typeface="等线"/>
                <a:sym typeface="等线"/>
              </a:rPr>
              <a:t>广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762000" y="5283200"/>
            <a:ext cx="10668000" cy="711200"/>
          </a:xfrm>
          <a:prstGeom prst="roundRect">
            <a:avLst>
              <a:gd name="adj" fmla="val 16666"/>
            </a:avLst>
          </a:prstGeom>
          <a:solidFill>
            <a:srgbClr val="FFF0EA">
              <a:alpha val="100000"/>
            </a:srgbClr>
          </a:solidFill>
          <a:ln w="12700" cmpd="sng" cap="flat">
            <a:solidFill>
              <a:srgbClr val="F5C8B5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762000" y="5283200"/>
            <a:ext cx="50800" cy="711200"/>
          </a:xfrm>
          <a:prstGeom prst="rect">
            <a:avLst/>
          </a:prstGeom>
          <a:solidFill>
            <a:srgbClr val="E8673C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1016000" y="5384800"/>
            <a:ext cx="2286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E8673C"/>
                </a:solidFill>
                <a:latin typeface="等线"/>
                <a:ea typeface="等线"/>
                <a:cs typeface="等线"/>
                <a:sym typeface="等线"/>
              </a:rPr>
              <a:t>SKILLS · 横贯四层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1016000" y="5638800"/>
            <a:ext cx="102870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告诉 Agent 什么场景去哪一层、怎么调、避什么坑——把分散的能力翻译成可靠的工作流。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762000" y="6057900"/>
            <a:ext cx="381000" cy="254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762000" y="6223000"/>
            <a:ext cx="106680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true" strike="noStrike" u="none" sz="12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分层意味着：越上层投入越多、覆盖越少、成功率越高；越下层自动生成、覆盖全部、留给 Agent 自由组合。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2349500"/>
            <a:ext cx="4064000" cy="2286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8400">
                <a:solidFill>
                  <a:srgbClr val="E2E9F5"/>
                </a:solidFill>
                <a:latin typeface="等线"/>
                <a:ea typeface="等线"/>
                <a:cs typeface="等线"/>
                <a:sym typeface="等线"/>
              </a:rPr>
              <a:t>PART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8400">
                <a:solidFill>
                  <a:srgbClr val="E2E9F5"/>
                </a:solidFill>
                <a:latin typeface="等线"/>
                <a:ea typeface="等线"/>
                <a:cs typeface="等线"/>
                <a:sym typeface="等线"/>
              </a:rPr>
              <a:t>03</a:t>
            </a:r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930400"/>
            <a:ext cx="508000" cy="381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57400"/>
            <a:ext cx="508000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第 3 章 · 最后收一下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3149600"/>
            <a:ext cx="10668000" cy="812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48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回到一件更大的事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4089400"/>
            <a:ext cx="106680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Agent 生态正在涌入飞书——飞书正在成为面向 AI 的协作平台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6223000"/>
            <a:ext cx="762000" cy="12700"/>
          </a:xfrm>
          <a:prstGeom prst="rect">
            <a:avLst/>
          </a:prstGeom>
          <a:solidFill>
            <a:srgbClr val="D0DBEE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6350000"/>
            <a:ext cx="1066800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8B97AD"/>
                </a:solidFill>
                <a:latin typeface="等线"/>
                <a:ea typeface="等线"/>
                <a:cs typeface="等线"/>
                <a:sym typeface="等线"/>
              </a:rPr>
              <a:t>飞书 AI-friendly 分享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406400" cy="381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87400"/>
            <a:ext cx="6350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15 · OpenClaw × 飞书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922000" y="787400"/>
            <a:ext cx="762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8B97AD"/>
                </a:solidFill>
                <a:latin typeface="等线"/>
                <a:ea typeface="等线"/>
                <a:cs typeface="等线"/>
                <a:sym typeface="等线"/>
              </a:rPr>
              <a:t>19 / 24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968500"/>
            <a:ext cx="10668000" cy="76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以 OpenClaw 为例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921000"/>
            <a:ext cx="10668000" cy="5847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OpenClaw 是当前最为流行的通用 AI Agent 之一。它通过飞书官方插件,已经深度接入了飞书——可以以用户身份看文档、发消息、约会议、管理任务。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4064000"/>
            <a:ext cx="10668000" cy="1270000"/>
          </a:xfrm>
          <a:prstGeom prst="roundRect">
            <a:avLst>
              <a:gd name="adj" fmla="val 16666"/>
            </a:avLst>
          </a:prstGeom>
          <a:solidFill>
            <a:srgbClr val="EEF3FB">
              <a:alpha val="100000"/>
            </a:srgbClr>
          </a:solidFill>
          <a:ln w="12700" cmpd="sng" cap="flat">
            <a:solidFill>
              <a:srgbClr val="D0DB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4064000"/>
            <a:ext cx="50800" cy="12700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4241800"/>
            <a:ext cx="6350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接下来两页,看它怎么和飞书结合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4597400"/>
            <a:ext cx="10287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①  视角一 · 飞书作为 channel —— 用户在飞书里和 AI 协作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4927600"/>
            <a:ext cx="10287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②  视角二 · 飞书作为工具 —— AI 动手操作飞书,帮人做事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5778500"/>
            <a:ext cx="381000" cy="254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5930900"/>
            <a:ext cx="10668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true" strike="noStrike" u="none" sz="12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OpenClaw 是一个样本,背后是一类正在扩大的趋势——Hermes 等同类 Agent 也在陆续接入。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406400" cy="381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87400"/>
            <a:ext cx="6350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16 · 飞书作为 channel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922000" y="787400"/>
            <a:ext cx="762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8B97AD"/>
                </a:solidFill>
                <a:latin typeface="等线"/>
                <a:ea typeface="等线"/>
                <a:cs typeface="等线"/>
                <a:sym typeface="等线"/>
              </a:rPr>
              <a:t>20 / 24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70000"/>
            <a:ext cx="10668000" cy="5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6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飞书作为 channel：用户和 Agent 在飞书里协作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778000"/>
            <a:ext cx="10668000" cy="2923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OpenClaw 直接进驻飞书——让 AI 对话发生在你本来就工作的地方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286000"/>
            <a:ext cx="5334000" cy="3302000"/>
          </a:xfrm>
          <a:prstGeom prst="roundRect">
            <a:avLst>
              <a:gd name="adj" fmla="val 1666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286000"/>
            <a:ext cx="5334000" cy="457200"/>
          </a:xfrm>
          <a:prstGeom prst="rect">
            <a:avLst/>
          </a:prstGeom>
          <a:solidFill>
            <a:srgbClr val="E4EBF5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65200" y="2387600"/>
            <a:ext cx="3810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#产品组 · @OpenClaw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921000" y="2794000"/>
            <a:ext cx="2921000" cy="2308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r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8B97AD"/>
                </a:solidFill>
                <a:latin typeface="等线"/>
                <a:ea typeface="等线"/>
                <a:cs typeface="等线"/>
                <a:sym typeface="等线"/>
              </a:rPr>
              <a:t>你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921000" y="2997200"/>
            <a:ext cx="2921000" cy="482600"/>
          </a:xfrm>
          <a:prstGeom prst="roundRect">
            <a:avLst>
              <a:gd name="adj" fmla="val 16666"/>
            </a:avLst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048000" y="3107695"/>
            <a:ext cx="2667000" cy="26161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帮我约明天下午和张三的一小时会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90600" y="3403600"/>
            <a:ext cx="2921000" cy="17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8B97AD"/>
                </a:solidFill>
                <a:latin typeface="等线"/>
                <a:ea typeface="等线"/>
                <a:cs typeface="等线"/>
                <a:sym typeface="等线"/>
              </a:rPr>
              <a:t>OpenClaw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90600" y="3606800"/>
            <a:ext cx="2921000" cy="482600"/>
          </a:xfrm>
          <a:prstGeom prst="roundRect">
            <a:avLst>
              <a:gd name="adj" fmla="val 16666"/>
            </a:avLst>
          </a:prstGeom>
          <a:solidFill>
            <a:srgbClr val="E4EBF5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117600" y="3657600"/>
            <a:ext cx="26670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已创建：明天 14:00–15:00，邀请已发送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2921000" y="4013200"/>
            <a:ext cx="2921000" cy="2308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r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8B97AD"/>
                </a:solidFill>
                <a:latin typeface="等线"/>
                <a:ea typeface="等线"/>
                <a:cs typeface="等线"/>
                <a:sym typeface="等线"/>
              </a:rPr>
              <a:t>你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2921000" y="4216400"/>
            <a:ext cx="2921000" cy="482600"/>
          </a:xfrm>
          <a:prstGeom prst="roundRect">
            <a:avLst>
              <a:gd name="adj" fmla="val 16666"/>
            </a:avLst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3048000" y="4267200"/>
            <a:ext cx="26670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把这周的 OKR 同步到公司多维表格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90600" y="4622800"/>
            <a:ext cx="2921000" cy="17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8B97AD"/>
                </a:solidFill>
                <a:latin typeface="等线"/>
                <a:ea typeface="等线"/>
                <a:cs typeface="等线"/>
                <a:sym typeface="等线"/>
              </a:rPr>
              <a:t>OpenClaw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90600" y="4826000"/>
            <a:ext cx="2921000" cy="482600"/>
          </a:xfrm>
          <a:prstGeom prst="roundRect">
            <a:avLst>
              <a:gd name="adj" fmla="val 16666"/>
            </a:avLst>
          </a:prstGeom>
          <a:solidFill>
            <a:srgbClr val="E4EBF5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117600" y="4876800"/>
            <a:ext cx="26670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已同步 3 条 OKR，查看多维表格 →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477000" y="2286000"/>
            <a:ext cx="4953000" cy="914400"/>
          </a:xfrm>
          <a:prstGeom prst="roundRect">
            <a:avLst>
              <a:gd name="adj" fmla="val 1666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77000" y="2286000"/>
            <a:ext cx="50800" cy="9144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705600" y="2463800"/>
            <a:ext cx="355600" cy="355600"/>
          </a:xfrm>
          <a:prstGeom prst="ellipse">
            <a:avLst/>
          </a:prstGeom>
          <a:solidFill>
            <a:srgbClr val="EEF3FB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705600" y="2476500"/>
            <a:ext cx="355600" cy="33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non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1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188200" y="2463800"/>
            <a:ext cx="406400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对话就是入口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188200" y="2743200"/>
            <a:ext cx="4064000" cy="431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用户不用切应用、不装客户端 — @一下机器人就开始用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477000" y="3352800"/>
            <a:ext cx="4953000" cy="914400"/>
          </a:xfrm>
          <a:prstGeom prst="roundRect">
            <a:avLst>
              <a:gd name="adj" fmla="val 1666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477000" y="3352800"/>
            <a:ext cx="50800" cy="9144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705600" y="3530600"/>
            <a:ext cx="355600" cy="355600"/>
          </a:xfrm>
          <a:prstGeom prst="ellipse">
            <a:avLst/>
          </a:prstGeom>
          <a:solidFill>
            <a:srgbClr val="EEF3FB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705600" y="3543300"/>
            <a:ext cx="355600" cy="33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non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2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7188200" y="3530600"/>
            <a:ext cx="406400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上下文在协作流里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7188200" y="3810000"/>
            <a:ext cx="4064000" cy="431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群消息、线程、文档引用，Agent 直接读到真实语境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477000" y="4419600"/>
            <a:ext cx="4953000" cy="914400"/>
          </a:xfrm>
          <a:prstGeom prst="roundRect">
            <a:avLst>
              <a:gd name="adj" fmla="val 1666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6477000" y="4419600"/>
            <a:ext cx="50800" cy="9144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6705600" y="4597400"/>
            <a:ext cx="355600" cy="355600"/>
          </a:xfrm>
          <a:prstGeom prst="ellipse">
            <a:avLst/>
          </a:prstGeom>
          <a:solidFill>
            <a:srgbClr val="EEF3FB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6705600" y="4610100"/>
            <a:ext cx="355600" cy="33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non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3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7188200" y="4597400"/>
            <a:ext cx="406400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流式卡片 + 交互控件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7188200" y="4876800"/>
            <a:ext cx="4064000" cy="431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回答边生成边显示，结果可以一键确认/修改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762000" y="5816600"/>
            <a:ext cx="381000" cy="254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762000" y="5994400"/>
            <a:ext cx="10668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true" strike="noStrike" u="none" sz="12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把 AI 对话放回协作现场——它看到的上下文,和你看到的一样。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406400" cy="38100"/>
          </a:xfrm>
          <a:prstGeom prst="rect">
            <a:avLst/>
          </a:prstGeom>
          <a:solidFill>
            <a:srgbClr val="E8673C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87400"/>
            <a:ext cx="6350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17 · 飞书作为工具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922000" y="787400"/>
            <a:ext cx="762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8B97AD"/>
                </a:solidFill>
                <a:latin typeface="等线"/>
                <a:ea typeface="等线"/>
                <a:cs typeface="等线"/>
                <a:sym typeface="等线"/>
              </a:rPr>
              <a:t>21 / 24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70000"/>
            <a:ext cx="10668000" cy="5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6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飞书作为工具：Agent 动手操作飞书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778000"/>
            <a:ext cx="10668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OpenClaw 通过 lark-cli 读文档、发消息、改表格,甚至以自己的身份登录飞书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2540000"/>
            <a:ext cx="1778000" cy="10414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6B7A99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9000" y="2743200"/>
            <a:ext cx="1778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non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OpenClaw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90600" y="3073400"/>
            <a:ext cx="1574800" cy="406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AI Agent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238500" y="2540000"/>
            <a:ext cx="1778000" cy="1041400"/>
          </a:xfrm>
          <a:prstGeom prst="roundRect">
            <a:avLst>
              <a:gd name="adj" fmla="val 16666"/>
            </a:avLst>
          </a:prstGeom>
          <a:solidFill>
            <a:srgbClr val="EEF3FB">
              <a:alpha val="100000"/>
            </a:srgbClr>
          </a:solidFill>
          <a:ln w="12700" cmpd="sng" cap="flat">
            <a:solidFill>
              <a:srgbClr val="3370FF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238500" y="2743200"/>
            <a:ext cx="1778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non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lark-cli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340100" y="3073400"/>
            <a:ext cx="1574800" cy="406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统一接入层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588000" y="2540000"/>
            <a:ext cx="1778000" cy="1041400"/>
          </a:xfrm>
          <a:prstGeom prst="roundRect">
            <a:avLst>
              <a:gd name="adj" fmla="val 16666"/>
            </a:avLst>
          </a:prstGeom>
          <a:solidFill>
            <a:srgbClr val="FFF0EA">
              <a:alpha val="100000"/>
            </a:srgbClr>
          </a:solidFill>
          <a:ln w="12700" cmpd="sng" cap="flat">
            <a:solidFill>
              <a:srgbClr val="E8673C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588000" y="2743200"/>
            <a:ext cx="1778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non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E8673C"/>
                </a:solidFill>
                <a:latin typeface="等线"/>
                <a:ea typeface="等线"/>
                <a:cs typeface="等线"/>
                <a:sym typeface="等线"/>
              </a:rPr>
              <a:t>飞书 OAPI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689600" y="3073400"/>
            <a:ext cx="1574800" cy="406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消息/文档/日历/Base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2667000" y="3048000"/>
            <a:ext cx="495300" cy="254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5400000" flipH="false" flipV="false">
            <a:off x="3111500" y="2997200"/>
            <a:ext cx="101600" cy="127000"/>
          </a:xfrm>
          <a:prstGeom prst="triangle">
            <a:avLst>
              <a:gd name="adj" fmla="val 50000"/>
            </a:avLst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016500" y="3048000"/>
            <a:ext cx="495300" cy="25400"/>
          </a:xfrm>
          <a:prstGeom prst="rect">
            <a:avLst/>
          </a:prstGeom>
          <a:solidFill>
            <a:srgbClr val="E8673C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5400000" flipH="false" flipV="false">
            <a:off x="5461000" y="2997200"/>
            <a:ext cx="101600" cy="127000"/>
          </a:xfrm>
          <a:prstGeom prst="triangle">
            <a:avLst>
              <a:gd name="adj" fmla="val 50000"/>
            </a:avLst>
          </a:prstGeom>
          <a:solidFill>
            <a:srgbClr val="E8673C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89000" y="3746500"/>
            <a:ext cx="6477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Agent 像调用函数一样调 lark-cli,不关心 HTTP/鉴权/分页/错误处理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747000" y="2540000"/>
            <a:ext cx="3683000" cy="10414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747000" y="2540000"/>
            <a:ext cx="50800" cy="10414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950200" y="2717800"/>
            <a:ext cx="3302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帮你动手做事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950200" y="3022600"/>
            <a:ext cx="3302000" cy="5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帮你整理文档 / 改表格 / 发消息 / 约会议,不只是给你文字建议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747000" y="3683000"/>
            <a:ext cx="3683000" cy="10414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747000" y="3683000"/>
            <a:ext cx="50800" cy="1041400"/>
          </a:xfrm>
          <a:prstGeom prst="rect">
            <a:avLst/>
          </a:prstGeom>
          <a:solidFill>
            <a:srgbClr val="E8673C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950200" y="3860800"/>
            <a:ext cx="3302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以自己身份上飞书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950200" y="4165600"/>
            <a:ext cx="3302000" cy="5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Agent 可以拥有独立飞书账号,作为团队成员参与协作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62000" y="5080000"/>
            <a:ext cx="10668000" cy="685800"/>
          </a:xfrm>
          <a:prstGeom prst="roundRect">
            <a:avLst>
              <a:gd name="adj" fmla="val 16667"/>
            </a:avLst>
          </a:prstGeom>
          <a:solidFill>
            <a:srgbClr val="FFF0EA">
              <a:alpha val="100000"/>
            </a:srgbClr>
          </a:solidFill>
          <a:ln w="12700" cmpd="sng" cap="flat">
            <a:solidFill>
              <a:srgbClr val="F5C8B5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62000" y="5080000"/>
            <a:ext cx="50800" cy="685800"/>
          </a:xfrm>
          <a:prstGeom prst="rect">
            <a:avLst/>
          </a:prstGeom>
          <a:solidFill>
            <a:srgbClr val="E8673C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1016000" y="5283200"/>
            <a:ext cx="10287000" cy="33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AI 不只能"聊",还能"做"——当 Agent 能自己登录飞书,协作就多了一类新成员。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762000" y="5943600"/>
            <a:ext cx="381000" cy="254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762000" y="6096000"/>
            <a:ext cx="10668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true" strike="noStrike" u="none" sz="12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两个视角合起来:人在飞书里和 AI 协作,AI 也在飞书里和人协作。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406400" cy="381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87400"/>
            <a:ext cx="5080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18 · 收束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922000" y="787400"/>
            <a:ext cx="762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8B97AD"/>
                </a:solidFill>
                <a:latin typeface="等线"/>
                <a:ea typeface="等线"/>
                <a:cs typeface="等线"/>
                <a:sym typeface="等线"/>
              </a:rPr>
              <a:t>22 / 24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70000"/>
            <a:ext cx="10668000" cy="5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7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当各种 Agent × 各种场景都能接入飞书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778000"/>
            <a:ext cx="10668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OpenClaw 只是开始。lark-cli 作为统一接入层，让任何 Agent 都能消费飞书的协作能力。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2413000"/>
            <a:ext cx="304800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各种 Agent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9000" y="2717800"/>
            <a:ext cx="3048000" cy="2032000"/>
          </a:xfrm>
          <a:prstGeom prst="roundRect">
            <a:avLst>
              <a:gd name="adj" fmla="val 1666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17600" y="2921000"/>
            <a:ext cx="76200" cy="76200"/>
          </a:xfrm>
          <a:prstGeom prst="ellipse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295400" y="2812906"/>
            <a:ext cx="2489200" cy="2923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Codex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117600" y="3251200"/>
            <a:ext cx="76200" cy="76200"/>
          </a:xfrm>
          <a:prstGeom prst="ellipse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295400" y="3143106"/>
            <a:ext cx="2489200" cy="2923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Trae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117600" y="3581400"/>
            <a:ext cx="76200" cy="76200"/>
          </a:xfrm>
          <a:prstGeom prst="ellipse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295400" y="3479800"/>
            <a:ext cx="24892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OpenClaw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117600" y="3911600"/>
            <a:ext cx="76200" cy="76200"/>
          </a:xfrm>
          <a:prstGeom prst="ellipse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295400" y="3810000"/>
            <a:ext cx="24892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Hermes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117600" y="4241800"/>
            <a:ext cx="76200" cy="76200"/>
          </a:xfrm>
          <a:prstGeom prst="ellipse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295400" y="4140200"/>
            <a:ext cx="24892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true" strike="noStrike" u="none" sz="13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…你自己写的 Agent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255000" y="2413000"/>
            <a:ext cx="304800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E8673C"/>
                </a:solidFill>
                <a:latin typeface="等线"/>
                <a:ea typeface="等线"/>
                <a:cs typeface="等线"/>
                <a:sym typeface="等线"/>
              </a:rPr>
              <a:t>各种场景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255000" y="2717800"/>
            <a:ext cx="3048000" cy="2032000"/>
          </a:xfrm>
          <a:prstGeom prst="roundRect">
            <a:avLst>
              <a:gd name="adj" fmla="val 1666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483600" y="2921000"/>
            <a:ext cx="76200" cy="76200"/>
          </a:xfrm>
          <a:prstGeom prst="ellipse">
            <a:avLst/>
          </a:prstGeom>
          <a:solidFill>
            <a:srgbClr val="E8673C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661400" y="2819400"/>
            <a:ext cx="24892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日程 · 会议 · 忙闲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483600" y="3251200"/>
            <a:ext cx="76200" cy="76200"/>
          </a:xfrm>
          <a:prstGeom prst="ellipse">
            <a:avLst/>
          </a:prstGeom>
          <a:solidFill>
            <a:srgbClr val="E8673C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661400" y="3149600"/>
            <a:ext cx="24892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文档 · 多维表格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483600" y="3581400"/>
            <a:ext cx="76200" cy="76200"/>
          </a:xfrm>
          <a:prstGeom prst="ellipse">
            <a:avLst/>
          </a:prstGeom>
          <a:solidFill>
            <a:srgbClr val="E8673C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661400" y="3479800"/>
            <a:ext cx="24892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消息 · 群协作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483600" y="3911600"/>
            <a:ext cx="76200" cy="76200"/>
          </a:xfrm>
          <a:prstGeom prst="ellipse">
            <a:avLst/>
          </a:prstGeom>
          <a:solidFill>
            <a:srgbClr val="E8673C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661400" y="3810000"/>
            <a:ext cx="24892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任务 · 审批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483600" y="4241800"/>
            <a:ext cx="76200" cy="76200"/>
          </a:xfrm>
          <a:prstGeom prst="ellipse">
            <a:avLst/>
          </a:prstGeom>
          <a:solidFill>
            <a:srgbClr val="E8673C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661400" y="4140200"/>
            <a:ext cx="24892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true" strike="noStrike" u="none" sz="13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…更多业务场景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4953000" y="3175000"/>
            <a:ext cx="2286000" cy="1397000"/>
          </a:xfrm>
          <a:prstGeom prst="roundRect">
            <a:avLst>
              <a:gd name="adj" fmla="val 16667"/>
            </a:avLst>
          </a:prstGeom>
          <a:solidFill>
            <a:srgbClr val="EEF3FB">
              <a:alpha val="100000"/>
            </a:srgbClr>
          </a:solidFill>
          <a:ln w="12700" cmpd="sng" cap="flat">
            <a:solidFill>
              <a:srgbClr val="3370FF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4953000" y="3352800"/>
            <a:ext cx="2286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统一接入层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4953000" y="3657600"/>
            <a:ext cx="2286000" cy="482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6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lark-cli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4953000" y="4191000"/>
            <a:ext cx="2286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+ MCP / Skills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4013200" y="3860800"/>
            <a:ext cx="838200" cy="254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5400000" flipH="false" flipV="false">
            <a:off x="4800600" y="3810000"/>
            <a:ext cx="101600" cy="127000"/>
          </a:xfrm>
          <a:prstGeom prst="triangle">
            <a:avLst>
              <a:gd name="adj" fmla="val 50000"/>
            </a:avLst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7315200" y="3860800"/>
            <a:ext cx="838200" cy="25400"/>
          </a:xfrm>
          <a:prstGeom prst="rect">
            <a:avLst/>
          </a:prstGeom>
          <a:solidFill>
            <a:srgbClr val="E8673C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5400000" flipH="false" flipV="false">
            <a:off x="8102600" y="3810000"/>
            <a:ext cx="101600" cy="127000"/>
          </a:xfrm>
          <a:prstGeom prst="triangle">
            <a:avLst>
              <a:gd name="adj" fmla="val 50000"/>
            </a:avLst>
          </a:prstGeom>
          <a:solidFill>
            <a:srgbClr val="E8673C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762000" y="5461000"/>
            <a:ext cx="381000" cy="25400"/>
          </a:xfrm>
          <a:prstGeom prst="rect">
            <a:avLst/>
          </a:prstGeom>
          <a:solidFill>
            <a:srgbClr val="E8673C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762000" y="5638800"/>
            <a:ext cx="10668000" cy="33855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true" strike="noStrike" u="none" sz="12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这，就是我们要做的——真正 AI-friendly 的工作平台。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406400" cy="381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87400"/>
            <a:ext cx="5080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开源 · 欢迎体验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10668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飞书 CLI 已经开源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438400"/>
            <a:ext cx="10668000" cy="33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你可以直接用它,也可以把自己的 Agent 接上来——一起把飞书做成 AI 能用的协作平台。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524000" y="3200400"/>
            <a:ext cx="9144000" cy="1270000"/>
          </a:xfrm>
          <a:prstGeom prst="roundRect">
            <a:avLst>
              <a:gd name="adj" fmla="val 16666"/>
            </a:avLst>
          </a:prstGeom>
          <a:solidFill>
            <a:srgbClr val="1A1F2E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828800" y="3454400"/>
            <a:ext cx="1270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00D4FF"/>
                </a:solidFill>
                <a:latin typeface="等线"/>
                <a:ea typeface="等线"/>
                <a:cs typeface="等线"/>
                <a:sym typeface="等线"/>
              </a:rPr>
              <a:t>GitHub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828800" y="3733800"/>
            <a:ext cx="8636000" cy="584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github.com/larksuite/cli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4826000"/>
            <a:ext cx="3302000" cy="990600"/>
          </a:xfrm>
          <a:prstGeom prst="roundRect">
            <a:avLst>
              <a:gd name="adj" fmla="val 1666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826000"/>
            <a:ext cx="3302000" cy="381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65200" y="4978400"/>
            <a:ext cx="2921000" cy="20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场景 1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65200" y="5207000"/>
            <a:ext cx="2921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自己用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65200" y="5486400"/>
            <a:ext cx="2921000" cy="26161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装上就能让 Codex 、 Trae 操作飞书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445000" y="4826000"/>
            <a:ext cx="3302000" cy="990600"/>
          </a:xfrm>
          <a:prstGeom prst="roundRect">
            <a:avLst>
              <a:gd name="adj" fmla="val 1666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445000" y="4826000"/>
            <a:ext cx="3302000" cy="381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648200" y="4978400"/>
            <a:ext cx="2921000" cy="20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场景 2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648200" y="5207000"/>
            <a:ext cx="2921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接入自己的 Agent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648200" y="5486400"/>
            <a:ext cx="2921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把 lark-cli 当 tool 层 + 消费 Skills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128000" y="4826000"/>
            <a:ext cx="3302000" cy="990600"/>
          </a:xfrm>
          <a:prstGeom prst="roundRect">
            <a:avLst>
              <a:gd name="adj" fmla="val 1666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4EE">
                <a:alpha val="100000"/>
              </a:srgbClr>
            </a:solidFill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128000" y="4826000"/>
            <a:ext cx="3302000" cy="381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331200" y="4978400"/>
            <a:ext cx="2921000" cy="20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场景 3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331200" y="5207000"/>
            <a:ext cx="2921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A1F2E"/>
                </a:solidFill>
                <a:latin typeface="等线"/>
                <a:ea typeface="等线"/>
                <a:cs typeface="等线"/>
                <a:sym typeface="等线"/>
              </a:rPr>
              <a:t>参与贡献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331200" y="5486400"/>
            <a:ext cx="2921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欢迎提 issue、Skill、业务域扩展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5994400"/>
            <a:ext cx="381000" cy="254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62000" y="6146800"/>
            <a:ext cx="10668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true" strike="noStrike" u="none" sz="1200">
                <a:solidFill>
                  <a:srgbClr val="3C4858"/>
                </a:solidFill>
                <a:latin typeface="等线"/>
                <a:ea typeface="等线"/>
                <a:cs typeface="等线"/>
                <a:sym typeface="等线"/>
              </a:rPr>
              <a:t>你们做的 Agent 也可以直接接上来。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10922000" y="787400"/>
            <a:ext cx="7620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8B97AD"/>
                </a:solidFill>
                <a:latin typeface="等线"/>
                <a:ea typeface="等线"/>
                <a:cs typeface="等线"/>
                <a:sym typeface="等线"/>
              </a:rPr>
              <a:t>23 / 24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1143000"/>
            <a:ext cx="609600" cy="50800"/>
          </a:xfrm>
          <a:prstGeom prst="rect">
            <a:avLst/>
          </a:prstGeom>
          <a:solidFill>
            <a:srgbClr val="3370FF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371600"/>
            <a:ext cx="50800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结尾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540000"/>
            <a:ext cx="10414000" cy="889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4600">
                <a:solidFill>
                  <a:srgbClr val="6B7A99"/>
                </a:solidFill>
                <a:latin typeface="等线"/>
                <a:ea typeface="等线"/>
                <a:cs typeface="等线"/>
                <a:sym typeface="等线"/>
              </a:rPr>
              <a:t>不只是在飞书里使用 AI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3429000"/>
            <a:ext cx="10414000" cy="889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46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而是让 AI 更好地使用飞书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5334000"/>
            <a:ext cx="10414000" cy="12700"/>
          </a:xfrm>
          <a:prstGeom prst="rect">
            <a:avLst/>
          </a:prstGeom>
          <a:solidFill>
            <a:srgbClr val="D6DDE8">
              <a:alpha val="100000"/>
            </a:srgbClr>
          </a:solidFill>
          <a:ln w="12700" cmpd="sng" cap="flat">
            <a:noFill/>
            <a:prstDash val="solid"/>
            <a:miter lim="8000000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5524500"/>
            <a:ext cx="6350000" cy="2923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8B97AD"/>
                </a:solidFill>
                <a:latin typeface="等线"/>
                <a:ea typeface="等线"/>
                <a:cs typeface="等线"/>
                <a:sym typeface="等线"/>
              </a:rPr>
              <a:t>飞书 AI-friendly 分享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144000" y="5524500"/>
            <a:ext cx="2286000" cy="2923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3370FF"/>
                </a:solidFill>
                <a:latin typeface="等线"/>
                <a:ea typeface="等线"/>
                <a:cs typeface="等线"/>
                <a:sym typeface="等线"/>
              </a:rPr>
              <a:t>谢谢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主题​​ [1776684307308]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